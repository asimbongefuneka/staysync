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2d85ece-b746-2e68-99a2-2105d13bc597}">
          <p14:sldIdLst>
            <p14:sldId id="256"/>
            <p14:sldId id="257"/>
          </p14:sldIdLst>
        </p14:section>
        <p14:section name="Problems" id="{0052beaf-8bdc-1889-e62c-d14e777ae5c0}">
          <p14:sldIdLst>
            <p14:sldId id="258"/>
            <p14:sldId id="259"/>
            <p14:sldId id="260"/>
            <p14:sldId id="261"/>
          </p14:sldIdLst>
        </p14:section>
        <p14:section name="Solution" id="{754d9566-1cac-45bd-3b4c-5b582c8ccd95}">
          <p14:sldIdLst>
            <p14:sldId id="262"/>
            <p14:sldId id="263"/>
            <p14:sldId id="264"/>
          </p14:sldIdLst>
        </p14:section>
        <p14:section name="Close" id="{e0d5e750-4d69-f035-9a7c-02c2f3533842}">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F4C5C"/>
                </a:solidFill>
                <a:latin typeface="+mn-lt"/>
              </a:defRPr>
            </a:pPr>
            <a:r>
              <a:rPr sz="1400" b="0" i="0" u="none" strike="noStrike">
                <a:solidFill>
                  <a:srgbClr val="0F4C5C"/>
                </a:solidFill>
                <a:latin typeface="+mn-lt"/>
              </a:rPr>
              <a:t>Losses vs one month's allowance (R)</a:t>
            </a:r>
          </a:p>
        </c:rich>
      </c:tx>
      <c:layout/>
      <c:overlay val="0"/>
    </c:title>
    <c:autoTitleDeleted val="0"/>
    <c:plotArea>
      <c:layout/>
      <c:barChart>
        <c:barDir val="bar"/>
        <c:grouping val="clustered"/>
        <c:varyColors val="0"/>
        <c:ser>
          <c:idx val="0"/>
          <c:order val="0"/>
          <c:tx>
            <c:strRef>
              <c:f>Sheet1!$B$1</c:f>
              <c:strCache>
                <c:ptCount val="1"/>
                <c:pt idx="0">
                  <c:v>Rand</c:v>
                </c:pt>
              </c:strCache>
            </c:strRef>
          </c:tx>
          <c:spPr>
            <a:solidFill>
              <a:srgbClr val="E4572E"/>
            </a:solidFill>
            <a:effectLst/>
          </c:spPr>
          <c:invertIfNegative val="0"/>
          <c:dLbls>
            <c:numFmt formatCode="&quot;R&quot;#,##0" sourceLinked="0"/>
            <c:txPr>
              <a:bodyPr/>
              <a:lstStyle/>
              <a:p>
                <a:pPr>
                  <a:defRPr b="0" i="0" strike="noStrike" sz="1200" u="none">
                    <a:solidFill>
                      <a:srgbClr val="12232E"/>
                    </a:solidFill>
                    <a:latin typeface="+mn-lt"/>
                  </a:defRPr>
                </a:pPr>
              </a:p>
            </c:txPr>
            <c:showLegendKey val="0"/>
            <c:showVal val="1"/>
            <c:showCatName val="0"/>
            <c:showSerName val="0"/>
            <c:showPercent val="0"/>
            <c:showBubbleSize val="0"/>
            <c:showLeaderLines val="0"/>
          </c:dLbls>
          <c:dPt>
            <c:idx val="0"/>
            <c:invertIfNegative val="0"/>
            <c:bubble3D val="0"/>
            <c:spPr>
              <a:solidFill>
                <a:srgbClr val="E4572E"/>
              </a:solidFill>
              <a:effectLst/>
            </c:spPr>
          </c:dPt>
          <c:dPt>
            <c:idx val="1"/>
            <c:invertIfNegative val="0"/>
            <c:bubble3D val="0"/>
            <c:spPr>
              <a:solidFill>
                <a:srgbClr val="E4572E"/>
              </a:solidFill>
              <a:effectLst/>
            </c:spPr>
          </c:dPt>
          <c:dPt>
            <c:idx val="2"/>
            <c:invertIfNegative val="0"/>
            <c:bubble3D val="0"/>
            <c:spPr>
              <a:solidFill>
                <a:srgbClr val="E4572E"/>
              </a:solidFill>
              <a:effectLst/>
            </c:spPr>
          </c:dPt>
          <c:dPt>
            <c:idx val="3"/>
            <c:invertIfNegative val="0"/>
            <c:bubble3D val="0"/>
            <c:spPr>
              <a:solidFill>
                <a:srgbClr val="1B998B"/>
              </a:solidFill>
              <a:effectLst/>
            </c:spPr>
          </c:dPt>
          <c:cat>
            <c:multiLvlStrRef>
              <c:f>Sheet1!$A$2:$A$5</c:f>
              <c:multiLvlStrCache>
                <c:ptCount val="4"/>
                <c:lvl>
                  <c:pt idx="0">
                    <c:v>Avg. TUT scam loss (each)</c:v>
                  </c:pt>
                  <c:pt idx="1">
                    <c:v>Deposit scam (low)</c:v>
                  </c:pt>
                  <c:pt idx="2">
                    <c:v>Deposit scam (high)</c:v>
                  </c:pt>
                  <c:pt idx="3">
                    <c:v>Monthly non-metro allowance</c:v>
                  </c:pt>
                </c:lvl>
              </c:multiLvlStrCache>
            </c:multiLvlStrRef>
          </c:cat>
          <c:val>
            <c:numRef>
              <c:f>Sheet1!$B$2:$B$5</c:f>
              <c:numCache>
                <c:formatCode>General</c:formatCode>
                <c:ptCount val="4"/>
                <c:pt idx="0">
                  <c:v>1375</c:v>
                </c:pt>
                <c:pt idx="1">
                  <c:v>1500</c:v>
                </c:pt>
                <c:pt idx="2">
                  <c:v>1800</c:v>
                </c:pt>
                <c:pt idx="3">
                  <c:v>4264</c:v>
                </c:pt>
              </c:numCache>
            </c:numRef>
          </c:val>
        </c:ser>
        <c:dLbls>
          <c:numFmt formatCode="&quot;R&quot;#,##0" sourceLinked="0"/>
          <c:txPr>
            <a:bodyPr/>
            <a:lstStyle/>
            <a:p>
              <a:pPr>
                <a:defRPr b="0" i="0" strike="noStrike" sz="1200" u="none">
                  <a:solidFill>
                    <a:srgbClr val="12232E"/>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2232E"/>
                </a:solidFill>
                <a:latin typeface="+mn-lt"/>
              </a:defRPr>
            </a:pPr>
            <a:endParaRPr lang="en-US"/>
          </a:p>
        </c:txPr>
        <c:crossAx val="2094734552"/>
        <c:crosses val="autoZero"/>
        <c:auto val="1"/>
        <c:lblAlgn val="ctr"/>
        <c:noMultiLvlLbl val="1"/>
      </c:catAx>
      <c:valAx>
        <c:axId val="2094734552"/>
        <c:scaling>
          <c:orientation val="minMax"/>
          <c:max val="520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Greet the panel. Introduce yourself and the team. State the topic: StaySync, a digital commerce platform that helps students find safe, verified accommodation.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aim of our investigation was to evaluate whether StaySync is viable and how good the experience is for students. We used desk research only: online literature, news, government and university sources, and statistics we computed ourselves. StaySync connects students with trusted landlords across six cities.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First-year students arrive in a new city, often renting for the first time, and many depend on NSFAS. That combination makes them the most exposed to scams and accreditation confusion. Even a single lost deposit is a large share of their monthly allowance.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literature review found five main problems: scams, accreditation confusion, unclear property details, NSFAS payment delays to providers, and a national shortage of beds. Estimates of the shortfall range from over 200,000 to over 500,000 beds.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525,497 beds for more than 1.1 million students gives about 48 beds or fewer per 100 students. About 80% of funded university students receive accommodation funding, so accredited housing is the biggest part of demand. NSFAS owes providers R44 million. Four TUT students lost R5,500 to a fake landlord.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reported deposit losses of R1,500 and R1,800 equal about 35% to 42% of one month's non-metro NSFAS allowance of R4,264. The four TUT students averaged R1,375 each (R5,500 divided by four). These figures were computed by our team from the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interface of StaySync. Students choose between NSFAS Accredited and Independent accommodation, and each listing card shows the name, address and amenities. The two tiers match how NSFAS funding works, because NSFAS only pays for accredited housing.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problem maps to a StaySync feature. Be honest about scope: StaySync does not fix NSFAS payment delays itself; our recommendation is that landlords register for accreditation and NSFAS shares registers with platforms like StaySync.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recommendations to the technical team: secure payments, mapping and verification badges. For universities and NSFAS: officially endorse StaySync and share accredited registers.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the evidence shows the traditional search is risky; StaySync is a feasible, scalable fix. Thank the panel and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234440"/>
            <a:ext cx="5120640" cy="100584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3" name="Text 0"/>
          <p:cNvSpPr/>
          <p:nvPr>
            <p:ph idx="101" type="body" hasCustomPrompt="1"/>
          </p:nvPr>
        </p:nvSpPr>
        <p:spPr>
          <a:xfrm>
            <a:off x="640080" y="2331720"/>
            <a:ext cx="4937760" cy="82296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3" name="Text 0"/>
          <p:cNvSpPr/>
          <p:nvPr/>
        </p:nvSpPr>
        <p:spPr>
          <a:xfrm>
            <a:off x="548640" y="4800600"/>
            <a:ext cx="4572000" cy="228600"/>
          </a:xfrm>
          <a:prstGeom prst="rect">
            <a:avLst/>
          </a:prstGeom>
          <a:noFill/>
          <a:ln/>
        </p:spPr>
        <p:txBody>
          <a:bodyPr wrap="square" lIns="0" tIns="0" rIns="0" bIns="0" rtlCol="0" anchor="ctr"/>
          <a:lstStyle/>
          <a:p>
            <a:pPr indent="0" marL="0">
              <a:buNone/>
            </a:pPr>
            <a:r>
              <a:rPr lang="en-US" sz="1000" dirty="0">
                <a:solidFill>
                  <a:schemeClr val="accent5"/>
                </a:solidFill>
              </a:rPr>
              <a:t>StaySync  |  TUT Soshanguve South Campus</a:t>
            </a:r>
            <a:endParaRPr lang="en-US" sz="1000" dirty="0"/>
          </a:p>
        </p:txBody>
      </p:sp>
      <p:sp>
        <p:nvSpPr>
          <p:cNvPr id="25" name="Slide Number Placeholder 0"/>
          <p:cNvSpPr>
            <a:spLocks noGrp="1"/>
          </p:cNvSpPr>
          <p:nvPr>
            <p:ph type="sldNum" sz="quarter" idx="4294967295"/>
          </p:nvPr>
        </p:nvSpPr>
        <p:spPr>
          <a:xfrm>
            <a:off x="813816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END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13816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4.xml"/><Relationship Id="rId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234440"/>
            <a:ext cx="5120640" cy="1005840"/>
          </a:xfrm>
          <a:prstGeom prst="rect">
            <a:avLst/>
          </a:prstGeom>
          <a:noFill/>
          <a:ln/>
        </p:spPr>
        <p:txBody>
          <a:bodyPr wrap="square" lIns="0" tIns="0" rIns="0" bIns="0" rtlCol="0" anchor="ctr"/>
          <a:lstStyle/>
          <a:p>
            <a:pPr algn="l" indent="0" marL="0">
              <a:buNone/>
            </a:pPr>
            <a:r>
              <a:rPr lang="en-US" sz="5400" b="1" dirty="0">
                <a:solidFill>
                  <a:schemeClr val="bg1"/>
                </a:solidFill>
              </a:rPr>
              <a:t>StaySync</a:t>
            </a:r>
            <a:endParaRPr lang="en-US" sz="5400" dirty="0"/>
          </a:p>
        </p:txBody>
      </p:sp>
      <p:sp>
        <p:nvSpPr>
          <p:cNvPr id="3" name="Text 0"/>
          <p:cNvSpPr/>
          <p:nvPr>
            <p:ph idx="101" type="body" hasCustomPrompt="1"/>
          </p:nvPr>
        </p:nvSpPr>
        <p:spPr>
          <a:xfrm>
            <a:off x="640080" y="2331720"/>
            <a:ext cx="4937760" cy="822960"/>
          </a:xfrm>
          <a:prstGeom prst="rect">
            <a:avLst/>
          </a:prstGeom>
          <a:noFill/>
          <a:ln/>
        </p:spPr>
        <p:txBody>
          <a:bodyPr wrap="square" lIns="0" tIns="0" rIns="0" bIns="0" rtlCol="0" anchor="t"/>
          <a:lstStyle/>
          <a:p>
            <a:pPr algn="l" indent="0" marL="0">
              <a:buNone/>
            </a:pPr>
            <a:r>
              <a:rPr lang="en-US" sz="2000" dirty="0">
                <a:solidFill>
                  <a:schemeClr val="bg2"/>
                </a:solidFill>
              </a:rPr>
              <a:t>A digital commerce platform for student accommodation</a:t>
            </a:r>
            <a:endParaRPr lang="en-US" sz="2000" dirty="0"/>
          </a:p>
        </p:txBody>
      </p:sp>
      <p:sp>
        <p:nvSpPr>
          <p:cNvPr id="4" name="Text 2"/>
          <p:cNvSpPr txBox="1"/>
          <p:nvPr/>
        </p:nvSpPr>
        <p:spPr>
          <a:xfrm>
            <a:off x="640080" y="3840480"/>
            <a:ext cx="5120640" cy="640080"/>
          </a:xfrm>
          <a:prstGeom prst="rect">
            <a:avLst/>
          </a:prstGeom>
          <a:noFill/>
          <a:ln/>
        </p:spPr>
        <p:txBody>
          <a:bodyPr wrap="square" lIns="0" tIns="0" rIns="0" bIns="0" rtlCol="0" anchor="t"/>
          <a:lstStyle/>
          <a:p>
            <a:pPr indent="0" marL="0">
              <a:spcAft>
                <a:spcPts val="400"/>
              </a:spcAft>
              <a:buNone/>
            </a:pPr>
            <a:r>
              <a:rPr lang="en-US" sz="1400" dirty="0">
                <a:solidFill>
                  <a:schemeClr val="bg2"/>
                </a:solidFill>
              </a:rPr>
              <a:t>Presented by Tiisetso Marabe and team</a:t>
            </a:r>
            <a:endParaRPr lang="en-US" sz="1400" dirty="0"/>
          </a:p>
          <a:p>
            <a:pPr indent="0" marL="0">
              <a:spcAft>
                <a:spcPts val="400"/>
              </a:spcAft>
              <a:buNone/>
            </a:pPr>
            <a:r>
              <a:rPr lang="en-US" sz="1400" dirty="0">
                <a:solidFill>
                  <a:schemeClr val="bg2"/>
                </a:solidFill>
              </a:rPr>
              <a:t>Faculty of ICT  |  TUT Soshanguve South Campus  |  2026</a:t>
            </a:r>
            <a:endParaRPr lang="en-US" sz="1400" dirty="0"/>
          </a:p>
        </p:txBody>
      </p:sp>
      <p:sp>
        <p:nvSpPr>
          <p:cNvPr id="5" name="hero circle"/>
          <p:cNvSpPr/>
          <p:nvPr/>
        </p:nvSpPr>
        <p:spPr>
          <a:xfrm>
            <a:off x="5943600" y="914400"/>
            <a:ext cx="2743200" cy="2743200"/>
          </a:xfrm>
          <a:prstGeom prst="ellipse">
            <a:avLst/>
          </a:prstGeom>
          <a:solidFill>
            <a:schemeClr val="accent1"/>
          </a:solidFill>
          <a:ln w="12700">
            <a:solidFill>
              <a:schemeClr val="accent1"/>
            </a:solidFill>
            <a:prstDash val="solid"/>
          </a:ln>
        </p:spPr>
      </p:sp>
      <p:sp>
        <p:nvSpPr>
          <p:cNvPr id="6" name="hero accent circle"/>
          <p:cNvSpPr/>
          <p:nvPr/>
        </p:nvSpPr>
        <p:spPr>
          <a:xfrm>
            <a:off x="7498080" y="3200400"/>
            <a:ext cx="1005840" cy="1005840"/>
          </a:xfrm>
          <a:prstGeom prst="ellipse">
            <a:avLst/>
          </a:prstGeom>
          <a:solidFill>
            <a:schemeClr val="accent2"/>
          </a:solidFill>
          <a:ln w="12700">
            <a:solidFill>
              <a:schemeClr val="accent2"/>
            </a:solidFill>
            <a:prstDash val="solid"/>
          </a:ln>
        </p:spPr>
      </p:sp>
      <p:pic>
        <p:nvPicPr>
          <p:cNvPr id="7" name="hero home icon" descr="Home icon">    </p:cNvPr>
          <p:cNvPicPr>
            <a:picLocks noChangeAspect="1"/>
          </p:cNvPicPr>
          <p:nvPr/>
        </p:nvPicPr>
        <p:blipFill>
          <a:blip r:embed="rId1"/>
          <a:stretch>
            <a:fillRect/>
          </a:stretch>
        </p:blipFill>
        <p:spPr>
          <a:xfrm>
            <a:off x="6583680" y="1554480"/>
            <a:ext cx="1463040" cy="14630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400" b="1" dirty="0">
                <a:solidFill>
                  <a:schemeClr val="tx2"/>
                </a:solidFill>
              </a:rPr>
              <a:t>Introduction</a:t>
            </a:r>
            <a:endParaRPr lang="en-US" sz="3400" dirty="0"/>
          </a:p>
        </p:txBody>
      </p:sp>
      <p:sp>
        <p:nvSpPr>
          <p:cNvPr id="3" name="topic panel"/>
          <p:cNvSpPr/>
          <p:nvPr/>
        </p:nvSpPr>
        <p:spPr>
          <a:xfrm>
            <a:off x="548640" y="1325880"/>
            <a:ext cx="3291840" cy="3291840"/>
          </a:xfrm>
          <a:prstGeom prst="roundRect">
            <a:avLst>
              <a:gd name="adj" fmla="val 4167"/>
            </a:avLst>
          </a:prstGeom>
          <a:solidFill>
            <a:schemeClr val="tx2"/>
          </a:solidFill>
          <a:ln w="12700">
            <a:solidFill>
              <a:schemeClr val="tx2"/>
            </a:solidFill>
            <a:prstDash val="solid"/>
          </a:ln>
          <a:effectLst>
            <a:outerShdw sx="100000" sy="100000" kx="0" ky="0" algn="bl" rotWithShape="0" blurRad="101600" dist="25400" dir="5400000">
              <a:srgbClr val="000000">
                <a:alpha val="12000"/>
              </a:srgbClr>
            </a:outerShdw>
          </a:effectLst>
        </p:spPr>
      </p:sp>
      <p:pic>
        <p:nvPicPr>
          <p:cNvPr id="4" name="panel icon" descr="Home icon">    </p:cNvPr>
          <p:cNvPicPr>
            <a:picLocks noChangeAspect="1"/>
          </p:cNvPicPr>
          <p:nvPr/>
        </p:nvPicPr>
        <p:blipFill>
          <a:blip r:embed="rId1"/>
          <a:stretch>
            <a:fillRect/>
          </a:stretch>
        </p:blipFill>
        <p:spPr>
          <a:xfrm>
            <a:off x="822960" y="1600200"/>
            <a:ext cx="548640" cy="548640"/>
          </a:xfrm>
          <a:prstGeom prst="rect">
            <a:avLst/>
          </a:prstGeom>
        </p:spPr>
      </p:pic>
      <p:sp>
        <p:nvSpPr>
          <p:cNvPr id="5" name="topic text"/>
          <p:cNvSpPr txBox="1"/>
          <p:nvPr/>
        </p:nvSpPr>
        <p:spPr>
          <a:xfrm>
            <a:off x="822960" y="2286000"/>
            <a:ext cx="2743200" cy="1554480"/>
          </a:xfrm>
          <a:prstGeom prst="rect">
            <a:avLst/>
          </a:prstGeom>
          <a:noFill/>
          <a:ln/>
        </p:spPr>
        <p:txBody>
          <a:bodyPr wrap="square" lIns="0" tIns="0" rIns="0" bIns="0" rtlCol="0" anchor="t"/>
          <a:lstStyle/>
          <a:p>
            <a:pPr indent="0" marL="0">
              <a:buNone/>
            </a:pPr>
            <a:r>
              <a:rPr lang="en-US" sz="2200" b="1" dirty="0">
                <a:solidFill>
                  <a:schemeClr val="bg1"/>
                </a:solidFill>
                <a:latin typeface="Cambria" pitchFamily="34" charset="0"/>
                <a:ea typeface="Cambria" pitchFamily="34" charset="-122"/>
                <a:cs typeface="Cambria" pitchFamily="34" charset="-120"/>
              </a:rPr>
              <a:t>Investigating the feasibility and user experience of StaySync</a:t>
            </a:r>
            <a:endParaRPr lang="en-US" sz="2200" dirty="0"/>
          </a:p>
        </p:txBody>
      </p:sp>
      <p:sp>
        <p:nvSpPr>
          <p:cNvPr id="6" name="topic caption"/>
          <p:cNvSpPr txBox="1"/>
          <p:nvPr/>
        </p:nvSpPr>
        <p:spPr>
          <a:xfrm>
            <a:off x="822960" y="4023360"/>
            <a:ext cx="2743200" cy="365760"/>
          </a:xfrm>
          <a:prstGeom prst="rect">
            <a:avLst/>
          </a:prstGeom>
          <a:noFill/>
          <a:ln/>
        </p:spPr>
        <p:txBody>
          <a:bodyPr wrap="square" lIns="0" tIns="0" rIns="0" bIns="0" rtlCol="0" anchor="ctr"/>
          <a:lstStyle/>
          <a:p>
            <a:pPr indent="0" marL="0">
              <a:buNone/>
            </a:pPr>
            <a:r>
              <a:rPr lang="en-US" sz="1200" dirty="0">
                <a:solidFill>
                  <a:schemeClr val="bg2"/>
                </a:solidFill>
              </a:rPr>
              <a:t>Formal investigative report, 2026</a:t>
            </a:r>
            <a:endParaRPr lang="en-US" sz="1200" dirty="0"/>
          </a:p>
        </p:txBody>
      </p:sp>
      <p:sp>
        <p:nvSpPr>
          <p:cNvPr id="7" name="Aim icon circle"/>
          <p:cNvSpPr/>
          <p:nvPr/>
        </p:nvSpPr>
        <p:spPr>
          <a:xfrm>
            <a:off x="4206240" y="1417320"/>
            <a:ext cx="594360" cy="594360"/>
          </a:xfrm>
          <a:prstGeom prst="ellipse">
            <a:avLst/>
          </a:prstGeom>
          <a:solidFill>
            <a:schemeClr val="accent1"/>
          </a:solidFill>
          <a:ln w="12700">
            <a:solidFill>
              <a:schemeClr val="accent1"/>
            </a:solidFill>
            <a:prstDash val="solid"/>
          </a:ln>
        </p:spPr>
      </p:sp>
      <p:pic>
        <p:nvPicPr>
          <p:cNvPr id="8" name="Aim icon" descr="Aim icon">    </p:cNvPr>
          <p:cNvPicPr>
            <a:picLocks noChangeAspect="1"/>
          </p:cNvPicPr>
          <p:nvPr/>
        </p:nvPicPr>
        <p:blipFill>
          <a:blip r:embed="rId2"/>
          <a:stretch>
            <a:fillRect/>
          </a:stretch>
        </p:blipFill>
        <p:spPr>
          <a:xfrm>
            <a:off x="4343400" y="1554480"/>
            <a:ext cx="320040" cy="320040"/>
          </a:xfrm>
          <a:prstGeom prst="rect">
            <a:avLst/>
          </a:prstGeom>
        </p:spPr>
      </p:pic>
      <p:sp>
        <p:nvSpPr>
          <p:cNvPr id="9" name="Aim text"/>
          <p:cNvSpPr txBox="1"/>
          <p:nvPr/>
        </p:nvSpPr>
        <p:spPr>
          <a:xfrm>
            <a:off x="5029200" y="1325880"/>
            <a:ext cx="3566160" cy="1005840"/>
          </a:xfrm>
          <a:prstGeom prst="rect">
            <a:avLst/>
          </a:prstGeom>
          <a:noFill/>
          <a:ln/>
        </p:spPr>
        <p:txBody>
          <a:bodyPr wrap="square" lIns="0" tIns="0" rIns="0" bIns="0" rtlCol="0" anchor="t"/>
          <a:lstStyle/>
          <a:p>
            <a:pPr indent="0" marL="0">
              <a:spcAft>
                <a:spcPts val="300"/>
              </a:spcAft>
              <a:buNone/>
            </a:pPr>
            <a:r>
              <a:rPr lang="en-US" sz="1800" b="1" dirty="0">
                <a:solidFill>
                  <a:schemeClr val="tx2"/>
                </a:solidFill>
              </a:rPr>
              <a:t>Aim</a:t>
            </a:r>
            <a:endParaRPr lang="en-US" sz="1800" dirty="0"/>
          </a:p>
          <a:p>
            <a:pPr indent="0" marL="0">
              <a:spcAft>
                <a:spcPts val="300"/>
              </a:spcAft>
              <a:buNone/>
            </a:pPr>
            <a:r>
              <a:rPr lang="en-US" sz="1400" dirty="0">
                <a:solidFill>
                  <a:schemeClr val="tx1"/>
                </a:solidFill>
              </a:rPr>
              <a:t>Evaluate StaySync's viability, market demand and user experience.</a:t>
            </a:r>
            <a:endParaRPr lang="en-US" sz="1800" dirty="0"/>
          </a:p>
        </p:txBody>
      </p:sp>
      <p:sp>
        <p:nvSpPr>
          <p:cNvPr id="10" name="Method icon circle"/>
          <p:cNvSpPr/>
          <p:nvPr/>
        </p:nvSpPr>
        <p:spPr>
          <a:xfrm>
            <a:off x="4206240" y="2560320"/>
            <a:ext cx="594360" cy="594360"/>
          </a:xfrm>
          <a:prstGeom prst="ellipse">
            <a:avLst/>
          </a:prstGeom>
          <a:solidFill>
            <a:schemeClr val="accent4"/>
          </a:solidFill>
          <a:ln w="12700">
            <a:solidFill>
              <a:schemeClr val="accent4"/>
            </a:solidFill>
            <a:prstDash val="solid"/>
          </a:ln>
        </p:spPr>
      </p:sp>
      <p:pic>
        <p:nvPicPr>
          <p:cNvPr id="11" name="Method icon" descr="Method icon">    </p:cNvPr>
          <p:cNvPicPr>
            <a:picLocks noChangeAspect="1"/>
          </p:cNvPicPr>
          <p:nvPr/>
        </p:nvPicPr>
        <p:blipFill>
          <a:blip r:embed="rId3"/>
          <a:stretch>
            <a:fillRect/>
          </a:stretch>
        </p:blipFill>
        <p:spPr>
          <a:xfrm>
            <a:off x="4343400" y="2697480"/>
            <a:ext cx="320040" cy="320040"/>
          </a:xfrm>
          <a:prstGeom prst="rect">
            <a:avLst/>
          </a:prstGeom>
        </p:spPr>
      </p:pic>
      <p:sp>
        <p:nvSpPr>
          <p:cNvPr id="12" name="Method text"/>
          <p:cNvSpPr txBox="1"/>
          <p:nvPr/>
        </p:nvSpPr>
        <p:spPr>
          <a:xfrm>
            <a:off x="5029200" y="2468880"/>
            <a:ext cx="3566160" cy="1005840"/>
          </a:xfrm>
          <a:prstGeom prst="rect">
            <a:avLst/>
          </a:prstGeom>
          <a:noFill/>
          <a:ln/>
        </p:spPr>
        <p:txBody>
          <a:bodyPr wrap="square" lIns="0" tIns="0" rIns="0" bIns="0" rtlCol="0" anchor="t"/>
          <a:lstStyle/>
          <a:p>
            <a:pPr indent="0" marL="0">
              <a:spcAft>
                <a:spcPts val="300"/>
              </a:spcAft>
              <a:buNone/>
            </a:pPr>
            <a:r>
              <a:rPr lang="en-US" sz="1800" b="1" dirty="0">
                <a:solidFill>
                  <a:schemeClr val="tx2"/>
                </a:solidFill>
              </a:rPr>
              <a:t>Method</a:t>
            </a:r>
            <a:endParaRPr lang="en-US" sz="1800" dirty="0"/>
          </a:p>
          <a:p>
            <a:pPr indent="0" marL="0">
              <a:spcAft>
                <a:spcPts val="300"/>
              </a:spcAft>
              <a:buNone/>
            </a:pPr>
            <a:r>
              <a:rPr lang="en-US" sz="1400" dirty="0">
                <a:solidFill>
                  <a:schemeClr val="tx1"/>
                </a:solidFill>
              </a:rPr>
              <a:t>Desk-based research of online reports, news and statistics, June to September 2026.</a:t>
            </a:r>
            <a:endParaRPr lang="en-US" sz="1800" dirty="0"/>
          </a:p>
        </p:txBody>
      </p:sp>
      <p:sp>
        <p:nvSpPr>
          <p:cNvPr id="13" name="The platform icon circle"/>
          <p:cNvSpPr/>
          <p:nvPr/>
        </p:nvSpPr>
        <p:spPr>
          <a:xfrm>
            <a:off x="4206240" y="3703320"/>
            <a:ext cx="594360" cy="594360"/>
          </a:xfrm>
          <a:prstGeom prst="ellipse">
            <a:avLst/>
          </a:prstGeom>
          <a:solidFill>
            <a:schemeClr val="accent2"/>
          </a:solidFill>
          <a:ln w="12700">
            <a:solidFill>
              <a:schemeClr val="accent2"/>
            </a:solidFill>
            <a:prstDash val="solid"/>
          </a:ln>
        </p:spPr>
      </p:sp>
      <p:pic>
        <p:nvPicPr>
          <p:cNvPr id="14" name="The platform icon" descr="The platform icon">    </p:cNvPr>
          <p:cNvPicPr>
            <a:picLocks noChangeAspect="1"/>
          </p:cNvPicPr>
          <p:nvPr/>
        </p:nvPicPr>
        <p:blipFill>
          <a:blip r:embed="rId4"/>
          <a:stretch>
            <a:fillRect/>
          </a:stretch>
        </p:blipFill>
        <p:spPr>
          <a:xfrm>
            <a:off x="4343400" y="3840480"/>
            <a:ext cx="320040" cy="320040"/>
          </a:xfrm>
          <a:prstGeom prst="rect">
            <a:avLst/>
          </a:prstGeom>
        </p:spPr>
      </p:pic>
      <p:sp>
        <p:nvSpPr>
          <p:cNvPr id="15" name="The platform text"/>
          <p:cNvSpPr txBox="1"/>
          <p:nvPr/>
        </p:nvSpPr>
        <p:spPr>
          <a:xfrm>
            <a:off x="5029200" y="3611880"/>
            <a:ext cx="3566160" cy="1005840"/>
          </a:xfrm>
          <a:prstGeom prst="rect">
            <a:avLst/>
          </a:prstGeom>
          <a:noFill/>
          <a:ln/>
        </p:spPr>
        <p:txBody>
          <a:bodyPr wrap="square" lIns="0" tIns="0" rIns="0" bIns="0" rtlCol="0" anchor="t"/>
          <a:lstStyle/>
          <a:p>
            <a:pPr indent="0" marL="0">
              <a:spcAft>
                <a:spcPts val="300"/>
              </a:spcAft>
              <a:buNone/>
            </a:pPr>
            <a:r>
              <a:rPr lang="en-US" sz="1800" b="1" dirty="0">
                <a:solidFill>
                  <a:schemeClr val="tx2"/>
                </a:solidFill>
              </a:rPr>
              <a:t>The platform</a:t>
            </a:r>
            <a:endParaRPr lang="en-US" sz="1800" dirty="0"/>
          </a:p>
          <a:p>
            <a:pPr indent="0" marL="0">
              <a:spcAft>
                <a:spcPts val="300"/>
              </a:spcAft>
              <a:buNone/>
            </a:pPr>
            <a:r>
              <a:rPr lang="en-US" sz="1400" dirty="0">
                <a:solidFill>
                  <a:schemeClr val="tx1"/>
                </a:solidFill>
              </a:rPr>
              <a:t>A digital commerce site linking students with trusted landlords in six cities.</a:t>
            </a:r>
            <a:endParaRPr lang="en-US" sz="1800" dirty="0"/>
          </a:p>
        </p:txBody>
      </p:sp>
      <p:sp>
        <p:nvSpPr>
          <p:cNvPr id="25" name="Slide Number Placeholder 0"/>
          <p:cNvSpPr>
            <a:spLocks noGrp="1"/>
          </p:cNvSpPr>
          <p:nvPr>
            <p:ph type="sldNum" sz="quarter" idx="4294967295"/>
          </p:nvPr>
        </p:nvSpPr>
        <p:spPr>
          <a:xfrm>
            <a:off x="813816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400" b="1" dirty="0">
                <a:solidFill>
                  <a:schemeClr val="tx2"/>
                </a:solidFill>
              </a:rPr>
              <a:t>Why first-years are at risk</a:t>
            </a:r>
            <a:endParaRPr lang="en-US" sz="3400" dirty="0"/>
          </a:p>
        </p:txBody>
      </p:sp>
      <p:sp>
        <p:nvSpPr>
          <p:cNvPr id="3" name="New to the city card"/>
          <p:cNvSpPr/>
          <p:nvPr/>
        </p:nvSpPr>
        <p:spPr>
          <a:xfrm>
            <a:off x="548640" y="1325880"/>
            <a:ext cx="3931920" cy="1508760"/>
          </a:xfrm>
          <a:prstGeom prst="roundRect">
            <a:avLst>
              <a:gd name="adj" fmla="val 7273"/>
            </a:avLst>
          </a:prstGeom>
          <a:solidFill>
            <a:schemeClr val="bg2"/>
          </a:solidFill>
          <a:ln w="12700">
            <a:solidFill>
              <a:schemeClr val="bg2"/>
            </a:solidFill>
            <a:prstDash val="solid"/>
          </a:ln>
        </p:spPr>
      </p:sp>
      <p:sp>
        <p:nvSpPr>
          <p:cNvPr id="4" name="New to the city icon circle"/>
          <p:cNvSpPr/>
          <p:nvPr/>
        </p:nvSpPr>
        <p:spPr>
          <a:xfrm>
            <a:off x="777240" y="1554480"/>
            <a:ext cx="548640" cy="548640"/>
          </a:xfrm>
          <a:prstGeom prst="ellipse">
            <a:avLst/>
          </a:prstGeom>
          <a:solidFill>
            <a:schemeClr val="accent4"/>
          </a:solidFill>
          <a:ln w="12700">
            <a:solidFill>
              <a:schemeClr val="accent4"/>
            </a:solidFill>
            <a:prstDash val="solid"/>
          </a:ln>
        </p:spPr>
      </p:sp>
      <p:pic>
        <p:nvPicPr>
          <p:cNvPr id="5" name="New to the city icon" descr="New to the city icon">    </p:cNvPr>
          <p:cNvPicPr>
            <a:picLocks noChangeAspect="1"/>
          </p:cNvPicPr>
          <p:nvPr/>
        </p:nvPicPr>
        <p:blipFill>
          <a:blip r:embed="rId1"/>
          <a:stretch>
            <a:fillRect/>
          </a:stretch>
        </p:blipFill>
        <p:spPr>
          <a:xfrm>
            <a:off x="905256" y="1682496"/>
            <a:ext cx="292608" cy="292608"/>
          </a:xfrm>
          <a:prstGeom prst="rect">
            <a:avLst/>
          </a:prstGeom>
        </p:spPr>
      </p:pic>
      <p:sp>
        <p:nvSpPr>
          <p:cNvPr id="6" name="New to the city text"/>
          <p:cNvSpPr txBox="1"/>
          <p:nvPr/>
        </p:nvSpPr>
        <p:spPr>
          <a:xfrm>
            <a:off x="1508760" y="1508760"/>
            <a:ext cx="2834640" cy="1188720"/>
          </a:xfrm>
          <a:prstGeom prst="rect">
            <a:avLst/>
          </a:prstGeom>
          <a:noFill/>
          <a:ln/>
        </p:spPr>
        <p:txBody>
          <a:bodyPr wrap="square" lIns="0" tIns="0" rIns="0" bIns="0" rtlCol="0" anchor="t"/>
          <a:lstStyle/>
          <a:p>
            <a:pPr indent="0" marL="0">
              <a:spcAft>
                <a:spcPts val="300"/>
              </a:spcAft>
              <a:buNone/>
            </a:pPr>
            <a:r>
              <a:rPr lang="en-US" sz="1800" b="1" dirty="0">
                <a:solidFill>
                  <a:schemeClr val="tx2"/>
                </a:solidFill>
              </a:rPr>
              <a:t>New to the city</a:t>
            </a:r>
            <a:endParaRPr lang="en-US" sz="1800" dirty="0"/>
          </a:p>
          <a:p>
            <a:pPr indent="0" marL="0">
              <a:spcAft>
                <a:spcPts val="300"/>
              </a:spcAft>
              <a:buNone/>
            </a:pPr>
            <a:r>
              <a:rPr lang="en-US" sz="1400" dirty="0">
                <a:solidFill>
                  <a:schemeClr val="tx1"/>
                </a:solidFill>
              </a:rPr>
              <a:t>No local contacts and no way to know which landlords or areas to trust.</a:t>
            </a:r>
            <a:endParaRPr lang="en-US" sz="1800" dirty="0"/>
          </a:p>
        </p:txBody>
      </p:sp>
      <p:sp>
        <p:nvSpPr>
          <p:cNvPr id="7" name="First time renting card"/>
          <p:cNvSpPr/>
          <p:nvPr/>
        </p:nvSpPr>
        <p:spPr>
          <a:xfrm>
            <a:off x="4663440" y="1325880"/>
            <a:ext cx="3931920" cy="1508760"/>
          </a:xfrm>
          <a:prstGeom prst="roundRect">
            <a:avLst>
              <a:gd name="adj" fmla="val 7273"/>
            </a:avLst>
          </a:prstGeom>
          <a:solidFill>
            <a:schemeClr val="bg2"/>
          </a:solidFill>
          <a:ln w="12700">
            <a:solidFill>
              <a:schemeClr val="bg2"/>
            </a:solidFill>
            <a:prstDash val="solid"/>
          </a:ln>
        </p:spPr>
      </p:sp>
      <p:sp>
        <p:nvSpPr>
          <p:cNvPr id="8" name="First time renting icon circle"/>
          <p:cNvSpPr/>
          <p:nvPr/>
        </p:nvSpPr>
        <p:spPr>
          <a:xfrm>
            <a:off x="4892040" y="1554480"/>
            <a:ext cx="548640" cy="548640"/>
          </a:xfrm>
          <a:prstGeom prst="ellipse">
            <a:avLst/>
          </a:prstGeom>
          <a:solidFill>
            <a:schemeClr val="accent3"/>
          </a:solidFill>
          <a:ln w="12700">
            <a:solidFill>
              <a:schemeClr val="accent3"/>
            </a:solidFill>
            <a:prstDash val="solid"/>
          </a:ln>
        </p:spPr>
      </p:sp>
      <p:pic>
        <p:nvPicPr>
          <p:cNvPr id="9" name="First time renting icon" descr="First time renting icon">    </p:cNvPr>
          <p:cNvPicPr>
            <a:picLocks noChangeAspect="1"/>
          </p:cNvPicPr>
          <p:nvPr/>
        </p:nvPicPr>
        <p:blipFill>
          <a:blip r:embed="rId2"/>
          <a:stretch>
            <a:fillRect/>
          </a:stretch>
        </p:blipFill>
        <p:spPr>
          <a:xfrm>
            <a:off x="5020056" y="1682496"/>
            <a:ext cx="292608" cy="292608"/>
          </a:xfrm>
          <a:prstGeom prst="rect">
            <a:avLst/>
          </a:prstGeom>
        </p:spPr>
      </p:pic>
      <p:sp>
        <p:nvSpPr>
          <p:cNvPr id="10" name="First time renting text"/>
          <p:cNvSpPr txBox="1"/>
          <p:nvPr/>
        </p:nvSpPr>
        <p:spPr>
          <a:xfrm>
            <a:off x="5623560" y="1508760"/>
            <a:ext cx="2834640" cy="1188720"/>
          </a:xfrm>
          <a:prstGeom prst="rect">
            <a:avLst/>
          </a:prstGeom>
          <a:noFill/>
          <a:ln/>
        </p:spPr>
        <p:txBody>
          <a:bodyPr wrap="square" lIns="0" tIns="0" rIns="0" bIns="0" rtlCol="0" anchor="t"/>
          <a:lstStyle/>
          <a:p>
            <a:pPr indent="0" marL="0">
              <a:spcAft>
                <a:spcPts val="300"/>
              </a:spcAft>
              <a:buNone/>
            </a:pPr>
            <a:r>
              <a:rPr lang="en-US" sz="1800" b="1" dirty="0">
                <a:solidFill>
                  <a:schemeClr val="tx2"/>
                </a:solidFill>
              </a:rPr>
              <a:t>First time renting</a:t>
            </a:r>
            <a:endParaRPr lang="en-US" sz="1800" dirty="0"/>
          </a:p>
          <a:p>
            <a:pPr indent="0" marL="0">
              <a:spcAft>
                <a:spcPts val="300"/>
              </a:spcAft>
              <a:buNone/>
            </a:pPr>
            <a:r>
              <a:rPr lang="en-US" sz="1400" dirty="0">
                <a:solidFill>
                  <a:schemeClr val="tx1"/>
                </a:solidFill>
              </a:rPr>
              <a:t>Warning signs such as no viewing or pressure to pay a deposit go unnoticed.</a:t>
            </a:r>
            <a:endParaRPr lang="en-US" sz="1800" dirty="0"/>
          </a:p>
        </p:txBody>
      </p:sp>
      <p:sp>
        <p:nvSpPr>
          <p:cNvPr id="11" name="Relying on NSFAS card"/>
          <p:cNvSpPr/>
          <p:nvPr/>
        </p:nvSpPr>
        <p:spPr>
          <a:xfrm>
            <a:off x="548640" y="3017520"/>
            <a:ext cx="3931920" cy="1508760"/>
          </a:xfrm>
          <a:prstGeom prst="roundRect">
            <a:avLst>
              <a:gd name="adj" fmla="val 7273"/>
            </a:avLst>
          </a:prstGeom>
          <a:solidFill>
            <a:schemeClr val="bg2"/>
          </a:solidFill>
          <a:ln w="12700">
            <a:solidFill>
              <a:schemeClr val="bg2"/>
            </a:solidFill>
            <a:prstDash val="solid"/>
          </a:ln>
        </p:spPr>
      </p:sp>
      <p:sp>
        <p:nvSpPr>
          <p:cNvPr id="12" name="Relying on NSFAS icon circle"/>
          <p:cNvSpPr/>
          <p:nvPr/>
        </p:nvSpPr>
        <p:spPr>
          <a:xfrm>
            <a:off x="777240" y="3246120"/>
            <a:ext cx="548640" cy="548640"/>
          </a:xfrm>
          <a:prstGeom prst="ellipse">
            <a:avLst/>
          </a:prstGeom>
          <a:solidFill>
            <a:schemeClr val="accent1"/>
          </a:solidFill>
          <a:ln w="12700">
            <a:solidFill>
              <a:schemeClr val="accent1"/>
            </a:solidFill>
            <a:prstDash val="solid"/>
          </a:ln>
        </p:spPr>
      </p:sp>
      <p:pic>
        <p:nvPicPr>
          <p:cNvPr id="13" name="Relying on NSFAS icon" descr="Relying on NSFAS icon">    </p:cNvPr>
          <p:cNvPicPr>
            <a:picLocks noChangeAspect="1"/>
          </p:cNvPicPr>
          <p:nvPr/>
        </p:nvPicPr>
        <p:blipFill>
          <a:blip r:embed="rId3"/>
          <a:stretch>
            <a:fillRect/>
          </a:stretch>
        </p:blipFill>
        <p:spPr>
          <a:xfrm>
            <a:off x="905256" y="3374136"/>
            <a:ext cx="292608" cy="292608"/>
          </a:xfrm>
          <a:prstGeom prst="rect">
            <a:avLst/>
          </a:prstGeom>
        </p:spPr>
      </p:pic>
      <p:sp>
        <p:nvSpPr>
          <p:cNvPr id="14" name="Relying on NSFAS text"/>
          <p:cNvSpPr txBox="1"/>
          <p:nvPr/>
        </p:nvSpPr>
        <p:spPr>
          <a:xfrm>
            <a:off x="1508760" y="3200400"/>
            <a:ext cx="2834640" cy="1188720"/>
          </a:xfrm>
          <a:prstGeom prst="rect">
            <a:avLst/>
          </a:prstGeom>
          <a:noFill/>
          <a:ln/>
        </p:spPr>
        <p:txBody>
          <a:bodyPr wrap="square" lIns="0" tIns="0" rIns="0" bIns="0" rtlCol="0" anchor="t"/>
          <a:lstStyle/>
          <a:p>
            <a:pPr indent="0" marL="0">
              <a:spcAft>
                <a:spcPts val="300"/>
              </a:spcAft>
              <a:buNone/>
            </a:pPr>
            <a:r>
              <a:rPr lang="en-US" sz="1800" b="1" dirty="0">
                <a:solidFill>
                  <a:schemeClr val="tx2"/>
                </a:solidFill>
              </a:rPr>
              <a:t>Relying on NSFAS</a:t>
            </a:r>
            <a:endParaRPr lang="en-US" sz="1800" dirty="0"/>
          </a:p>
          <a:p>
            <a:pPr indent="0" marL="0">
              <a:spcAft>
                <a:spcPts val="300"/>
              </a:spcAft>
              <a:buNone/>
            </a:pPr>
            <a:r>
              <a:rPr lang="en-US" sz="1400" dirty="0">
                <a:solidFill>
                  <a:schemeClr val="tx1"/>
                </a:solidFill>
              </a:rPr>
              <a:t>They must find accredited housing; unaccredited stays are capped at R25,000 a year.</a:t>
            </a:r>
            <a:endParaRPr lang="en-US" sz="1800" dirty="0"/>
          </a:p>
        </p:txBody>
      </p:sp>
      <p:sp>
        <p:nvSpPr>
          <p:cNvPr id="15" name="Tight budget card"/>
          <p:cNvSpPr/>
          <p:nvPr/>
        </p:nvSpPr>
        <p:spPr>
          <a:xfrm>
            <a:off x="4663440" y="3017520"/>
            <a:ext cx="3931920" cy="1508760"/>
          </a:xfrm>
          <a:prstGeom prst="roundRect">
            <a:avLst>
              <a:gd name="adj" fmla="val 7273"/>
            </a:avLst>
          </a:prstGeom>
          <a:solidFill>
            <a:schemeClr val="bg2"/>
          </a:solidFill>
          <a:ln w="12700">
            <a:solidFill>
              <a:schemeClr val="bg2"/>
            </a:solidFill>
            <a:prstDash val="solid"/>
          </a:ln>
        </p:spPr>
      </p:sp>
      <p:sp>
        <p:nvSpPr>
          <p:cNvPr id="16" name="Tight budget icon circle"/>
          <p:cNvSpPr/>
          <p:nvPr/>
        </p:nvSpPr>
        <p:spPr>
          <a:xfrm>
            <a:off x="4892040" y="3246120"/>
            <a:ext cx="548640" cy="548640"/>
          </a:xfrm>
          <a:prstGeom prst="ellipse">
            <a:avLst/>
          </a:prstGeom>
          <a:solidFill>
            <a:schemeClr val="accent2"/>
          </a:solidFill>
          <a:ln w="12700">
            <a:solidFill>
              <a:schemeClr val="accent2"/>
            </a:solidFill>
            <a:prstDash val="solid"/>
          </a:ln>
        </p:spPr>
      </p:sp>
      <p:pic>
        <p:nvPicPr>
          <p:cNvPr id="17" name="Tight budget icon" descr="Tight budget icon">    </p:cNvPr>
          <p:cNvPicPr>
            <a:picLocks noChangeAspect="1"/>
          </p:cNvPicPr>
          <p:nvPr/>
        </p:nvPicPr>
        <p:blipFill>
          <a:blip r:embed="rId4"/>
          <a:stretch>
            <a:fillRect/>
          </a:stretch>
        </p:blipFill>
        <p:spPr>
          <a:xfrm>
            <a:off x="5020056" y="3374136"/>
            <a:ext cx="292608" cy="292608"/>
          </a:xfrm>
          <a:prstGeom prst="rect">
            <a:avLst/>
          </a:prstGeom>
        </p:spPr>
      </p:pic>
      <p:sp>
        <p:nvSpPr>
          <p:cNvPr id="18" name="Tight budget text"/>
          <p:cNvSpPr txBox="1"/>
          <p:nvPr/>
        </p:nvSpPr>
        <p:spPr>
          <a:xfrm>
            <a:off x="5623560" y="3200400"/>
            <a:ext cx="2834640" cy="1188720"/>
          </a:xfrm>
          <a:prstGeom prst="rect">
            <a:avLst/>
          </a:prstGeom>
          <a:noFill/>
          <a:ln/>
        </p:spPr>
        <p:txBody>
          <a:bodyPr wrap="square" lIns="0" tIns="0" rIns="0" bIns="0" rtlCol="0" anchor="t"/>
          <a:lstStyle/>
          <a:p>
            <a:pPr indent="0" marL="0">
              <a:spcAft>
                <a:spcPts val="300"/>
              </a:spcAft>
              <a:buNone/>
            </a:pPr>
            <a:r>
              <a:rPr lang="en-US" sz="1800" b="1" dirty="0">
                <a:solidFill>
                  <a:schemeClr val="tx2"/>
                </a:solidFill>
              </a:rPr>
              <a:t>Tight budget</a:t>
            </a:r>
            <a:endParaRPr lang="en-US" sz="1800" dirty="0"/>
          </a:p>
          <a:p>
            <a:pPr indent="0" marL="0">
              <a:spcAft>
                <a:spcPts val="300"/>
              </a:spcAft>
              <a:buNone/>
            </a:pPr>
            <a:r>
              <a:rPr lang="en-US" sz="1400" dirty="0">
                <a:solidFill>
                  <a:schemeClr val="tx1"/>
                </a:solidFill>
              </a:rPr>
              <a:t>One lost deposit equals 35% to 42% of a month's non-metro allowance.</a:t>
            </a:r>
            <a:endParaRPr lang="en-US" sz="1800" dirty="0"/>
          </a:p>
        </p:txBody>
      </p:sp>
      <p:sp>
        <p:nvSpPr>
          <p:cNvPr id="25" name="Slide Number Placeholder 0"/>
          <p:cNvSpPr>
            <a:spLocks noGrp="1"/>
          </p:cNvSpPr>
          <p:nvPr>
            <p:ph type="sldNum" sz="quarter" idx="4294967295"/>
          </p:nvPr>
        </p:nvSpPr>
        <p:spPr>
          <a:xfrm>
            <a:off x="813816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400" b="1" dirty="0">
                <a:solidFill>
                  <a:schemeClr val="tx2"/>
                </a:solidFill>
              </a:rPr>
              <a:t>Five problems we found</a:t>
            </a:r>
            <a:endParaRPr lang="en-US" sz="3400" dirty="0"/>
          </a:p>
        </p:txBody>
      </p:sp>
      <p:sp>
        <p:nvSpPr>
          <p:cNvPr id="3" name="problem row 1"/>
          <p:cNvSpPr/>
          <p:nvPr/>
        </p:nvSpPr>
        <p:spPr>
          <a:xfrm>
            <a:off x="548640" y="1280160"/>
            <a:ext cx="8046720" cy="603504"/>
          </a:xfrm>
          <a:prstGeom prst="roundRect">
            <a:avLst>
              <a:gd name="adj" fmla="val 15152"/>
            </a:avLst>
          </a:prstGeom>
          <a:solidFill>
            <a:schemeClr val="bg2"/>
          </a:solidFill>
          <a:ln w="12700">
            <a:solidFill>
              <a:schemeClr val="bg2"/>
            </a:solidFill>
            <a:prstDash val="solid"/>
          </a:ln>
        </p:spPr>
      </p:sp>
      <p:sp>
        <p:nvSpPr>
          <p:cNvPr id="4" name="problem icon 1 circle"/>
          <p:cNvSpPr/>
          <p:nvPr/>
        </p:nvSpPr>
        <p:spPr>
          <a:xfrm>
            <a:off x="685800" y="1353312"/>
            <a:ext cx="457200" cy="457200"/>
          </a:xfrm>
          <a:prstGeom prst="ellipse">
            <a:avLst/>
          </a:prstGeom>
          <a:solidFill>
            <a:schemeClr val="accent3"/>
          </a:solidFill>
          <a:ln w="12700">
            <a:solidFill>
              <a:schemeClr val="accent3"/>
            </a:solidFill>
            <a:prstDash val="solid"/>
          </a:ln>
        </p:spPr>
      </p:sp>
      <p:pic>
        <p:nvPicPr>
          <p:cNvPr id="5" name="problem icon 1" descr="problem icon 1">    </p:cNvPr>
          <p:cNvPicPr>
            <a:picLocks noChangeAspect="1"/>
          </p:cNvPicPr>
          <p:nvPr/>
        </p:nvPicPr>
        <p:blipFill>
          <a:blip r:embed="rId1"/>
          <a:stretch>
            <a:fillRect/>
          </a:stretch>
        </p:blipFill>
        <p:spPr>
          <a:xfrm>
            <a:off x="795528" y="1463040"/>
            <a:ext cx="237744" cy="237744"/>
          </a:xfrm>
          <a:prstGeom prst="rect">
            <a:avLst/>
          </a:prstGeom>
        </p:spPr>
      </p:pic>
      <p:sp>
        <p:nvSpPr>
          <p:cNvPr id="6" name="problem title 1"/>
          <p:cNvSpPr txBox="1"/>
          <p:nvPr/>
        </p:nvSpPr>
        <p:spPr>
          <a:xfrm>
            <a:off x="1325880" y="1280160"/>
            <a:ext cx="2651760" cy="603504"/>
          </a:xfrm>
          <a:prstGeom prst="rect">
            <a:avLst/>
          </a:prstGeom>
          <a:noFill/>
          <a:ln/>
        </p:spPr>
        <p:txBody>
          <a:bodyPr wrap="square" lIns="0" tIns="0" rIns="0" bIns="0" rtlCol="0" anchor="ctr"/>
          <a:lstStyle/>
          <a:p>
            <a:pPr indent="0" marL="0">
              <a:buNone/>
            </a:pPr>
            <a:r>
              <a:rPr lang="en-US" sz="1600" b="1" dirty="0">
                <a:solidFill>
                  <a:schemeClr val="tx2"/>
                </a:solidFill>
              </a:rPr>
              <a:t>Rental and deposit scams</a:t>
            </a:r>
            <a:endParaRPr lang="en-US" sz="1600" dirty="0"/>
          </a:p>
        </p:txBody>
      </p:sp>
      <p:sp>
        <p:nvSpPr>
          <p:cNvPr id="7" name="problem text 1"/>
          <p:cNvSpPr txBox="1"/>
          <p:nvPr/>
        </p:nvSpPr>
        <p:spPr>
          <a:xfrm>
            <a:off x="4023360" y="1280160"/>
            <a:ext cx="4434840" cy="603504"/>
          </a:xfrm>
          <a:prstGeom prst="rect">
            <a:avLst/>
          </a:prstGeom>
          <a:noFill/>
          <a:ln/>
        </p:spPr>
        <p:txBody>
          <a:bodyPr wrap="square" lIns="0" tIns="0" rIns="0" bIns="0" rtlCol="0" anchor="ctr"/>
          <a:lstStyle/>
          <a:p>
            <a:pPr indent="0" marL="0">
              <a:buNone/>
            </a:pPr>
            <a:r>
              <a:rPr lang="en-US" sz="1400" dirty="0">
                <a:solidFill>
                  <a:schemeClr val="tx1"/>
                </a:solidFill>
              </a:rPr>
              <a:t>Fake listings on social media push students to pay deposits immediately.</a:t>
            </a:r>
            <a:endParaRPr lang="en-US" sz="1400" dirty="0"/>
          </a:p>
        </p:txBody>
      </p:sp>
      <p:sp>
        <p:nvSpPr>
          <p:cNvPr id="8" name="problem row 2"/>
          <p:cNvSpPr/>
          <p:nvPr/>
        </p:nvSpPr>
        <p:spPr>
          <a:xfrm>
            <a:off x="548640" y="1975104"/>
            <a:ext cx="8046720" cy="603504"/>
          </a:xfrm>
          <a:prstGeom prst="roundRect">
            <a:avLst>
              <a:gd name="adj" fmla="val 15152"/>
            </a:avLst>
          </a:prstGeom>
          <a:solidFill>
            <a:schemeClr val="bg2"/>
          </a:solidFill>
          <a:ln w="12700">
            <a:solidFill>
              <a:schemeClr val="bg2"/>
            </a:solidFill>
            <a:prstDash val="solid"/>
          </a:ln>
        </p:spPr>
      </p:sp>
      <p:sp>
        <p:nvSpPr>
          <p:cNvPr id="9" name="problem icon 2 circle"/>
          <p:cNvSpPr/>
          <p:nvPr/>
        </p:nvSpPr>
        <p:spPr>
          <a:xfrm>
            <a:off x="685800" y="2048256"/>
            <a:ext cx="457200" cy="457200"/>
          </a:xfrm>
          <a:prstGeom prst="ellipse">
            <a:avLst/>
          </a:prstGeom>
          <a:solidFill>
            <a:schemeClr val="accent4"/>
          </a:solidFill>
          <a:ln w="12700">
            <a:solidFill>
              <a:schemeClr val="accent4"/>
            </a:solidFill>
            <a:prstDash val="solid"/>
          </a:ln>
        </p:spPr>
      </p:sp>
      <p:pic>
        <p:nvPicPr>
          <p:cNvPr id="10" name="problem icon 2" descr="problem icon 2">    </p:cNvPr>
          <p:cNvPicPr>
            <a:picLocks noChangeAspect="1"/>
          </p:cNvPicPr>
          <p:nvPr/>
        </p:nvPicPr>
        <p:blipFill>
          <a:blip r:embed="rId2"/>
          <a:stretch>
            <a:fillRect/>
          </a:stretch>
        </p:blipFill>
        <p:spPr>
          <a:xfrm>
            <a:off x="795528" y="2157984"/>
            <a:ext cx="237744" cy="237744"/>
          </a:xfrm>
          <a:prstGeom prst="rect">
            <a:avLst/>
          </a:prstGeom>
        </p:spPr>
      </p:pic>
      <p:sp>
        <p:nvSpPr>
          <p:cNvPr id="11" name="problem title 2"/>
          <p:cNvSpPr txBox="1"/>
          <p:nvPr/>
        </p:nvSpPr>
        <p:spPr>
          <a:xfrm>
            <a:off x="1325880" y="1975104"/>
            <a:ext cx="2651760" cy="603504"/>
          </a:xfrm>
          <a:prstGeom prst="rect">
            <a:avLst/>
          </a:prstGeom>
          <a:noFill/>
          <a:ln/>
        </p:spPr>
        <p:txBody>
          <a:bodyPr wrap="square" lIns="0" tIns="0" rIns="0" bIns="0" rtlCol="0" anchor="ctr"/>
          <a:lstStyle/>
          <a:p>
            <a:pPr indent="0" marL="0">
              <a:buNone/>
            </a:pPr>
            <a:r>
              <a:rPr lang="en-US" sz="1600" b="1" dirty="0">
                <a:solidFill>
                  <a:schemeClr val="tx2"/>
                </a:solidFill>
              </a:rPr>
              <a:t>Accreditation confusion</a:t>
            </a:r>
            <a:endParaRPr lang="en-US" sz="1600" dirty="0"/>
          </a:p>
        </p:txBody>
      </p:sp>
      <p:sp>
        <p:nvSpPr>
          <p:cNvPr id="12" name="problem text 2"/>
          <p:cNvSpPr txBox="1"/>
          <p:nvPr/>
        </p:nvSpPr>
        <p:spPr>
          <a:xfrm>
            <a:off x="4023360" y="1975104"/>
            <a:ext cx="4434840" cy="603504"/>
          </a:xfrm>
          <a:prstGeom prst="rect">
            <a:avLst/>
          </a:prstGeom>
          <a:noFill/>
          <a:ln/>
        </p:spPr>
        <p:txBody>
          <a:bodyPr wrap="square" lIns="0" tIns="0" rIns="0" bIns="0" rtlCol="0" anchor="ctr"/>
          <a:lstStyle/>
          <a:p>
            <a:pPr indent="0" marL="0">
              <a:buNone/>
            </a:pPr>
            <a:r>
              <a:rPr lang="en-US" sz="1400" dirty="0">
                <a:solidFill>
                  <a:schemeClr val="tx1"/>
                </a:solidFill>
              </a:rPr>
              <a:t>Students struggle to confirm whether a property is NSFAS-accredited.</a:t>
            </a:r>
            <a:endParaRPr lang="en-US" sz="1400" dirty="0"/>
          </a:p>
        </p:txBody>
      </p:sp>
      <p:sp>
        <p:nvSpPr>
          <p:cNvPr id="13" name="problem row 3"/>
          <p:cNvSpPr/>
          <p:nvPr/>
        </p:nvSpPr>
        <p:spPr>
          <a:xfrm>
            <a:off x="548640" y="2670048"/>
            <a:ext cx="8046720" cy="603504"/>
          </a:xfrm>
          <a:prstGeom prst="roundRect">
            <a:avLst>
              <a:gd name="adj" fmla="val 15152"/>
            </a:avLst>
          </a:prstGeom>
          <a:solidFill>
            <a:schemeClr val="bg2"/>
          </a:solidFill>
          <a:ln w="12700">
            <a:solidFill>
              <a:schemeClr val="bg2"/>
            </a:solidFill>
            <a:prstDash val="solid"/>
          </a:ln>
        </p:spPr>
      </p:sp>
      <p:sp>
        <p:nvSpPr>
          <p:cNvPr id="14" name="problem icon 3 circle"/>
          <p:cNvSpPr/>
          <p:nvPr/>
        </p:nvSpPr>
        <p:spPr>
          <a:xfrm>
            <a:off x="685800" y="2743200"/>
            <a:ext cx="457200" cy="457200"/>
          </a:xfrm>
          <a:prstGeom prst="ellipse">
            <a:avLst/>
          </a:prstGeom>
          <a:solidFill>
            <a:schemeClr val="accent1"/>
          </a:solidFill>
          <a:ln w="12700">
            <a:solidFill>
              <a:schemeClr val="accent1"/>
            </a:solidFill>
            <a:prstDash val="solid"/>
          </a:ln>
        </p:spPr>
      </p:sp>
      <p:pic>
        <p:nvPicPr>
          <p:cNvPr id="15" name="problem icon 3" descr="problem icon 3">    </p:cNvPr>
          <p:cNvPicPr>
            <a:picLocks noChangeAspect="1"/>
          </p:cNvPicPr>
          <p:nvPr/>
        </p:nvPicPr>
        <p:blipFill>
          <a:blip r:embed="rId3"/>
          <a:stretch>
            <a:fillRect/>
          </a:stretch>
        </p:blipFill>
        <p:spPr>
          <a:xfrm>
            <a:off x="795528" y="2852928"/>
            <a:ext cx="237744" cy="237744"/>
          </a:xfrm>
          <a:prstGeom prst="rect">
            <a:avLst/>
          </a:prstGeom>
        </p:spPr>
      </p:pic>
      <p:sp>
        <p:nvSpPr>
          <p:cNvPr id="16" name="problem title 3"/>
          <p:cNvSpPr txBox="1"/>
          <p:nvPr/>
        </p:nvSpPr>
        <p:spPr>
          <a:xfrm>
            <a:off x="1325880" y="2670048"/>
            <a:ext cx="2651760" cy="603504"/>
          </a:xfrm>
          <a:prstGeom prst="rect">
            <a:avLst/>
          </a:prstGeom>
          <a:noFill/>
          <a:ln/>
        </p:spPr>
        <p:txBody>
          <a:bodyPr wrap="square" lIns="0" tIns="0" rIns="0" bIns="0" rtlCol="0" anchor="ctr"/>
          <a:lstStyle/>
          <a:p>
            <a:pPr indent="0" marL="0">
              <a:buNone/>
            </a:pPr>
            <a:r>
              <a:rPr lang="en-US" sz="1600" b="1" dirty="0">
                <a:solidFill>
                  <a:schemeClr val="tx2"/>
                </a:solidFill>
              </a:rPr>
              <a:t>Unclear property details</a:t>
            </a:r>
            <a:endParaRPr lang="en-US" sz="1600" dirty="0"/>
          </a:p>
        </p:txBody>
      </p:sp>
      <p:sp>
        <p:nvSpPr>
          <p:cNvPr id="17" name="problem text 3"/>
          <p:cNvSpPr txBox="1"/>
          <p:nvPr/>
        </p:nvSpPr>
        <p:spPr>
          <a:xfrm>
            <a:off x="4023360" y="2670048"/>
            <a:ext cx="4434840" cy="603504"/>
          </a:xfrm>
          <a:prstGeom prst="rect">
            <a:avLst/>
          </a:prstGeom>
          <a:noFill/>
          <a:ln/>
        </p:spPr>
        <p:txBody>
          <a:bodyPr wrap="square" lIns="0" tIns="0" rIns="0" bIns="0" rtlCol="0" anchor="ctr"/>
          <a:lstStyle/>
          <a:p>
            <a:pPr indent="0" marL="0">
              <a:buNone/>
            </a:pPr>
            <a:r>
              <a:rPr lang="en-US" sz="1400" dirty="0">
                <a:solidFill>
                  <a:schemeClr val="tx1"/>
                </a:solidFill>
              </a:rPr>
              <a:t>Prices, Wi-Fi and security claims are often unclear or unverified.</a:t>
            </a:r>
            <a:endParaRPr lang="en-US" sz="1400" dirty="0"/>
          </a:p>
        </p:txBody>
      </p:sp>
      <p:sp>
        <p:nvSpPr>
          <p:cNvPr id="18" name="problem row 4"/>
          <p:cNvSpPr/>
          <p:nvPr/>
        </p:nvSpPr>
        <p:spPr>
          <a:xfrm>
            <a:off x="548640" y="3364992"/>
            <a:ext cx="8046720" cy="603504"/>
          </a:xfrm>
          <a:prstGeom prst="roundRect">
            <a:avLst>
              <a:gd name="adj" fmla="val 15152"/>
            </a:avLst>
          </a:prstGeom>
          <a:solidFill>
            <a:schemeClr val="bg2"/>
          </a:solidFill>
          <a:ln w="12700">
            <a:solidFill>
              <a:schemeClr val="bg2"/>
            </a:solidFill>
            <a:prstDash val="solid"/>
          </a:ln>
        </p:spPr>
      </p:sp>
      <p:sp>
        <p:nvSpPr>
          <p:cNvPr id="19" name="problem icon 4 circle"/>
          <p:cNvSpPr/>
          <p:nvPr/>
        </p:nvSpPr>
        <p:spPr>
          <a:xfrm>
            <a:off x="685800" y="3438144"/>
            <a:ext cx="457200" cy="457200"/>
          </a:xfrm>
          <a:prstGeom prst="ellipse">
            <a:avLst/>
          </a:prstGeom>
          <a:solidFill>
            <a:schemeClr val="accent5"/>
          </a:solidFill>
          <a:ln w="12700">
            <a:solidFill>
              <a:schemeClr val="accent5"/>
            </a:solidFill>
            <a:prstDash val="solid"/>
          </a:ln>
        </p:spPr>
      </p:sp>
      <p:pic>
        <p:nvPicPr>
          <p:cNvPr id="20" name="problem icon 4" descr="problem icon 4">    </p:cNvPr>
          <p:cNvPicPr>
            <a:picLocks noChangeAspect="1"/>
          </p:cNvPicPr>
          <p:nvPr/>
        </p:nvPicPr>
        <p:blipFill>
          <a:blip r:embed="rId4"/>
          <a:stretch>
            <a:fillRect/>
          </a:stretch>
        </p:blipFill>
        <p:spPr>
          <a:xfrm>
            <a:off x="795528" y="3547872"/>
            <a:ext cx="237744" cy="237744"/>
          </a:xfrm>
          <a:prstGeom prst="rect">
            <a:avLst/>
          </a:prstGeom>
        </p:spPr>
      </p:pic>
      <p:sp>
        <p:nvSpPr>
          <p:cNvPr id="21" name="problem title 4"/>
          <p:cNvSpPr txBox="1"/>
          <p:nvPr/>
        </p:nvSpPr>
        <p:spPr>
          <a:xfrm>
            <a:off x="1325880" y="3364992"/>
            <a:ext cx="2651760" cy="603504"/>
          </a:xfrm>
          <a:prstGeom prst="rect">
            <a:avLst/>
          </a:prstGeom>
          <a:noFill/>
          <a:ln/>
        </p:spPr>
        <p:txBody>
          <a:bodyPr wrap="square" lIns="0" tIns="0" rIns="0" bIns="0" rtlCol="0" anchor="ctr"/>
          <a:lstStyle/>
          <a:p>
            <a:pPr indent="0" marL="0">
              <a:buNone/>
            </a:pPr>
            <a:r>
              <a:rPr lang="en-US" sz="1600" b="1" dirty="0">
                <a:solidFill>
                  <a:schemeClr val="tx2"/>
                </a:solidFill>
              </a:rPr>
              <a:t>Provider payment delays</a:t>
            </a:r>
            <a:endParaRPr lang="en-US" sz="1600" dirty="0"/>
          </a:p>
        </p:txBody>
      </p:sp>
      <p:sp>
        <p:nvSpPr>
          <p:cNvPr id="22" name="problem text 4"/>
          <p:cNvSpPr txBox="1"/>
          <p:nvPr/>
        </p:nvSpPr>
        <p:spPr>
          <a:xfrm>
            <a:off x="4023360" y="3364992"/>
            <a:ext cx="4434840" cy="603504"/>
          </a:xfrm>
          <a:prstGeom prst="rect">
            <a:avLst/>
          </a:prstGeom>
          <a:noFill/>
          <a:ln/>
        </p:spPr>
        <p:txBody>
          <a:bodyPr wrap="square" lIns="0" tIns="0" rIns="0" bIns="0" rtlCol="0" anchor="ctr"/>
          <a:lstStyle/>
          <a:p>
            <a:pPr indent="0" marL="0">
              <a:buNone/>
            </a:pPr>
            <a:r>
              <a:rPr lang="en-US" sz="1400" dirty="0">
                <a:solidFill>
                  <a:schemeClr val="tx1"/>
                </a:solidFill>
              </a:rPr>
              <a:t>NSFAS owes providers R44 million, straining the supply of housing.</a:t>
            </a:r>
            <a:endParaRPr lang="en-US" sz="1400" dirty="0"/>
          </a:p>
        </p:txBody>
      </p:sp>
      <p:sp>
        <p:nvSpPr>
          <p:cNvPr id="23" name="problem row 5"/>
          <p:cNvSpPr/>
          <p:nvPr/>
        </p:nvSpPr>
        <p:spPr>
          <a:xfrm>
            <a:off x="548640" y="4059936"/>
            <a:ext cx="8046720" cy="603504"/>
          </a:xfrm>
          <a:prstGeom prst="roundRect">
            <a:avLst>
              <a:gd name="adj" fmla="val 15152"/>
            </a:avLst>
          </a:prstGeom>
          <a:solidFill>
            <a:schemeClr val="bg2"/>
          </a:solidFill>
          <a:ln w="12700">
            <a:solidFill>
              <a:schemeClr val="bg2"/>
            </a:solidFill>
            <a:prstDash val="solid"/>
          </a:ln>
        </p:spPr>
      </p:sp>
      <p:sp>
        <p:nvSpPr>
          <p:cNvPr id="24" name="problem icon 5 circle"/>
          <p:cNvSpPr/>
          <p:nvPr/>
        </p:nvSpPr>
        <p:spPr>
          <a:xfrm>
            <a:off x="685800" y="4133088"/>
            <a:ext cx="457200" cy="457200"/>
          </a:xfrm>
          <a:prstGeom prst="ellipse">
            <a:avLst/>
          </a:prstGeom>
          <a:solidFill>
            <a:schemeClr val="accent2"/>
          </a:solidFill>
          <a:ln w="12700">
            <a:solidFill>
              <a:schemeClr val="accent2"/>
            </a:solidFill>
            <a:prstDash val="solid"/>
          </a:ln>
        </p:spPr>
      </p:sp>
      <p:pic>
        <p:nvPicPr>
          <p:cNvPr id="25" name="problem icon 5" descr="problem icon 5">    </p:cNvPr>
          <p:cNvPicPr>
            <a:picLocks noChangeAspect="1"/>
          </p:cNvPicPr>
          <p:nvPr/>
        </p:nvPicPr>
        <p:blipFill>
          <a:blip r:embed="rId5"/>
          <a:stretch>
            <a:fillRect/>
          </a:stretch>
        </p:blipFill>
        <p:spPr>
          <a:xfrm>
            <a:off x="795528" y="4242816"/>
            <a:ext cx="237744" cy="237744"/>
          </a:xfrm>
          <a:prstGeom prst="rect">
            <a:avLst/>
          </a:prstGeom>
        </p:spPr>
      </p:pic>
      <p:sp>
        <p:nvSpPr>
          <p:cNvPr id="26" name="problem title 5"/>
          <p:cNvSpPr txBox="1"/>
          <p:nvPr/>
        </p:nvSpPr>
        <p:spPr>
          <a:xfrm>
            <a:off x="1325880" y="4059936"/>
            <a:ext cx="2651760" cy="603504"/>
          </a:xfrm>
          <a:prstGeom prst="rect">
            <a:avLst/>
          </a:prstGeom>
          <a:noFill/>
          <a:ln/>
        </p:spPr>
        <p:txBody>
          <a:bodyPr wrap="square" lIns="0" tIns="0" rIns="0" bIns="0" rtlCol="0" anchor="ctr"/>
          <a:lstStyle/>
          <a:p>
            <a:pPr indent="0" marL="0">
              <a:buNone/>
            </a:pPr>
            <a:r>
              <a:rPr lang="en-US" sz="1600" b="1" dirty="0">
                <a:solidFill>
                  <a:schemeClr val="tx2"/>
                </a:solidFill>
              </a:rPr>
              <a:t>Bed shortage</a:t>
            </a:r>
            <a:endParaRPr lang="en-US" sz="1600" dirty="0"/>
          </a:p>
        </p:txBody>
      </p:sp>
      <p:sp>
        <p:nvSpPr>
          <p:cNvPr id="27" name="problem text 5"/>
          <p:cNvSpPr txBox="1"/>
          <p:nvPr/>
        </p:nvSpPr>
        <p:spPr>
          <a:xfrm>
            <a:off x="4023360" y="4059936"/>
            <a:ext cx="4434840" cy="603504"/>
          </a:xfrm>
          <a:prstGeom prst="rect">
            <a:avLst/>
          </a:prstGeom>
          <a:noFill/>
          <a:ln/>
        </p:spPr>
        <p:txBody>
          <a:bodyPr wrap="square" lIns="0" tIns="0" rIns="0" bIns="0" rtlCol="0" anchor="ctr"/>
          <a:lstStyle/>
          <a:p>
            <a:pPr indent="0" marL="0">
              <a:buNone/>
            </a:pPr>
            <a:r>
              <a:rPr lang="en-US" sz="1400" dirty="0">
                <a:solidFill>
                  <a:schemeClr val="tx1"/>
                </a:solidFill>
              </a:rPr>
              <a:t>About 48 beds or fewer per 100 students leaves many in non-accredited housing.</a:t>
            </a:r>
            <a:endParaRPr lang="en-US" sz="1400" dirty="0"/>
          </a:p>
        </p:txBody>
      </p:sp>
      <p:sp>
        <p:nvSpPr>
          <p:cNvPr id="25" name="Slide Number Placeholder 0"/>
          <p:cNvSpPr>
            <a:spLocks noGrp="1"/>
          </p:cNvSpPr>
          <p:nvPr>
            <p:ph type="sldNum" sz="quarter" idx="4294967295"/>
          </p:nvPr>
        </p:nvSpPr>
        <p:spPr>
          <a:xfrm>
            <a:off x="813816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400" b="1" dirty="0">
                <a:solidFill>
                  <a:schemeClr val="tx2"/>
                </a:solidFill>
              </a:rPr>
              <a:t>The numbers behind it</a:t>
            </a:r>
            <a:endParaRPr lang="en-US" sz="3400" dirty="0"/>
          </a:p>
        </p:txBody>
      </p:sp>
      <p:sp>
        <p:nvSpPr>
          <p:cNvPr id="3" name="stat card 1"/>
          <p:cNvSpPr/>
          <p:nvPr/>
        </p:nvSpPr>
        <p:spPr>
          <a:xfrm>
            <a:off x="548640" y="1371600"/>
            <a:ext cx="1874520" cy="2651760"/>
          </a:xfrm>
          <a:prstGeom prst="roundRect">
            <a:avLst>
              <a:gd name="adj" fmla="val 5854"/>
            </a:avLst>
          </a:prstGeom>
          <a:solidFill>
            <a:schemeClr val="bg2"/>
          </a:solidFill>
          <a:ln w="12700">
            <a:solidFill>
              <a:schemeClr val="bg2"/>
            </a:solidFill>
            <a:prstDash val="solid"/>
          </a:ln>
        </p:spPr>
      </p:sp>
      <p:sp>
        <p:nvSpPr>
          <p:cNvPr id="4" name="stat value 1"/>
          <p:cNvSpPr txBox="1"/>
          <p:nvPr/>
        </p:nvSpPr>
        <p:spPr>
          <a:xfrm>
            <a:off x="640080" y="1600200"/>
            <a:ext cx="1691640" cy="868680"/>
          </a:xfrm>
          <a:prstGeom prst="rect">
            <a:avLst/>
          </a:prstGeom>
          <a:noFill/>
          <a:ln/>
        </p:spPr>
        <p:txBody>
          <a:bodyPr wrap="square" lIns="0" tIns="0" rIns="0" bIns="0" rtlCol="0" anchor="ctr"/>
          <a:lstStyle/>
          <a:p>
            <a:pPr algn="ctr" indent="0" marL="0">
              <a:buNone/>
            </a:pPr>
            <a:r>
              <a:rPr lang="en-US" sz="3800" b="1" dirty="0">
                <a:solidFill>
                  <a:schemeClr val="accent1"/>
                </a:solidFill>
                <a:latin typeface="Cambria" pitchFamily="34" charset="0"/>
                <a:ea typeface="Cambria" pitchFamily="34" charset="-122"/>
                <a:cs typeface="Cambria" pitchFamily="34" charset="-120"/>
              </a:rPr>
              <a:t>48</a:t>
            </a:r>
            <a:endParaRPr lang="en-US" sz="3800" dirty="0"/>
          </a:p>
        </p:txBody>
      </p:sp>
      <p:sp>
        <p:nvSpPr>
          <p:cNvPr id="5" name="stat label 1"/>
          <p:cNvSpPr txBox="1"/>
          <p:nvPr/>
        </p:nvSpPr>
        <p:spPr>
          <a:xfrm>
            <a:off x="685800" y="2606040"/>
            <a:ext cx="1600200" cy="1371600"/>
          </a:xfrm>
          <a:prstGeom prst="rect">
            <a:avLst/>
          </a:prstGeom>
          <a:noFill/>
          <a:ln/>
        </p:spPr>
        <p:txBody>
          <a:bodyPr wrap="square" lIns="0" tIns="0" rIns="0" bIns="0" rtlCol="0" anchor="t"/>
          <a:lstStyle/>
          <a:p>
            <a:pPr algn="ctr" indent="0" marL="0">
              <a:buNone/>
            </a:pPr>
            <a:r>
              <a:rPr lang="en-US" sz="1600" dirty="0">
                <a:solidFill>
                  <a:schemeClr val="tx1"/>
                </a:solidFill>
              </a:rPr>
              <a:t>or fewer beds per 100 students (computed)</a:t>
            </a:r>
            <a:endParaRPr lang="en-US" sz="1600" dirty="0"/>
          </a:p>
        </p:txBody>
      </p:sp>
      <p:sp>
        <p:nvSpPr>
          <p:cNvPr id="6" name="stat card 2"/>
          <p:cNvSpPr/>
          <p:nvPr/>
        </p:nvSpPr>
        <p:spPr>
          <a:xfrm>
            <a:off x="2606040" y="1371600"/>
            <a:ext cx="1874520" cy="2651760"/>
          </a:xfrm>
          <a:prstGeom prst="roundRect">
            <a:avLst>
              <a:gd name="adj" fmla="val 5854"/>
            </a:avLst>
          </a:prstGeom>
          <a:solidFill>
            <a:schemeClr val="bg2"/>
          </a:solidFill>
          <a:ln w="12700">
            <a:solidFill>
              <a:schemeClr val="bg2"/>
            </a:solidFill>
            <a:prstDash val="solid"/>
          </a:ln>
        </p:spPr>
      </p:sp>
      <p:sp>
        <p:nvSpPr>
          <p:cNvPr id="7" name="stat value 2"/>
          <p:cNvSpPr txBox="1"/>
          <p:nvPr/>
        </p:nvSpPr>
        <p:spPr>
          <a:xfrm>
            <a:off x="2697480" y="1600200"/>
            <a:ext cx="1691640" cy="868680"/>
          </a:xfrm>
          <a:prstGeom prst="rect">
            <a:avLst/>
          </a:prstGeom>
          <a:noFill/>
          <a:ln/>
        </p:spPr>
        <p:txBody>
          <a:bodyPr wrap="square" lIns="0" tIns="0" rIns="0" bIns="0" rtlCol="0" anchor="ctr"/>
          <a:lstStyle/>
          <a:p>
            <a:pPr algn="ctr" indent="0" marL="0">
              <a:buNone/>
            </a:pPr>
            <a:r>
              <a:rPr lang="en-US" sz="3800" b="1" dirty="0">
                <a:solidFill>
                  <a:schemeClr val="accent4"/>
                </a:solidFill>
                <a:latin typeface="Cambria" pitchFamily="34" charset="0"/>
                <a:ea typeface="Cambria" pitchFamily="34" charset="-122"/>
                <a:cs typeface="Cambria" pitchFamily="34" charset="-120"/>
              </a:rPr>
              <a:t>80%</a:t>
            </a:r>
            <a:endParaRPr lang="en-US" sz="3800" dirty="0"/>
          </a:p>
        </p:txBody>
      </p:sp>
      <p:sp>
        <p:nvSpPr>
          <p:cNvPr id="8" name="stat label 2"/>
          <p:cNvSpPr txBox="1"/>
          <p:nvPr/>
        </p:nvSpPr>
        <p:spPr>
          <a:xfrm>
            <a:off x="2743200" y="2606040"/>
            <a:ext cx="1600200" cy="1371600"/>
          </a:xfrm>
          <a:prstGeom prst="rect">
            <a:avLst/>
          </a:prstGeom>
          <a:noFill/>
          <a:ln/>
        </p:spPr>
        <p:txBody>
          <a:bodyPr wrap="square" lIns="0" tIns="0" rIns="0" bIns="0" rtlCol="0" anchor="t"/>
          <a:lstStyle/>
          <a:p>
            <a:pPr algn="ctr" indent="0" marL="0">
              <a:buNone/>
            </a:pPr>
            <a:r>
              <a:rPr lang="en-US" sz="1600" dirty="0">
                <a:solidFill>
                  <a:schemeClr val="tx1"/>
                </a:solidFill>
              </a:rPr>
              <a:t>of funded students receive accommodation funding</a:t>
            </a:r>
            <a:endParaRPr lang="en-US" sz="1600" dirty="0"/>
          </a:p>
        </p:txBody>
      </p:sp>
      <p:sp>
        <p:nvSpPr>
          <p:cNvPr id="9" name="stat card 3"/>
          <p:cNvSpPr/>
          <p:nvPr/>
        </p:nvSpPr>
        <p:spPr>
          <a:xfrm>
            <a:off x="4663440" y="1371600"/>
            <a:ext cx="1874520" cy="2651760"/>
          </a:xfrm>
          <a:prstGeom prst="roundRect">
            <a:avLst>
              <a:gd name="adj" fmla="val 5854"/>
            </a:avLst>
          </a:prstGeom>
          <a:solidFill>
            <a:schemeClr val="bg2"/>
          </a:solidFill>
          <a:ln w="12700">
            <a:solidFill>
              <a:schemeClr val="bg2"/>
            </a:solidFill>
            <a:prstDash val="solid"/>
          </a:ln>
        </p:spPr>
      </p:sp>
      <p:sp>
        <p:nvSpPr>
          <p:cNvPr id="10" name="stat value 3"/>
          <p:cNvSpPr txBox="1"/>
          <p:nvPr/>
        </p:nvSpPr>
        <p:spPr>
          <a:xfrm>
            <a:off x="4754880" y="1600200"/>
            <a:ext cx="1691640" cy="868680"/>
          </a:xfrm>
          <a:prstGeom prst="rect">
            <a:avLst/>
          </a:prstGeom>
          <a:noFill/>
          <a:ln/>
        </p:spPr>
        <p:txBody>
          <a:bodyPr wrap="square" lIns="0" tIns="0" rIns="0" bIns="0" rtlCol="0" anchor="ctr"/>
          <a:lstStyle/>
          <a:p>
            <a:pPr algn="ctr" indent="0" marL="0">
              <a:buNone/>
            </a:pPr>
            <a:r>
              <a:rPr lang="en-US" sz="3800" b="1" dirty="0">
                <a:solidFill>
                  <a:schemeClr val="accent5"/>
                </a:solidFill>
                <a:latin typeface="Cambria" pitchFamily="34" charset="0"/>
                <a:ea typeface="Cambria" pitchFamily="34" charset="-122"/>
                <a:cs typeface="Cambria" pitchFamily="34" charset="-120"/>
              </a:rPr>
              <a:t>R44m</a:t>
            </a:r>
            <a:endParaRPr lang="en-US" sz="3800" dirty="0"/>
          </a:p>
        </p:txBody>
      </p:sp>
      <p:sp>
        <p:nvSpPr>
          <p:cNvPr id="11" name="stat label 3"/>
          <p:cNvSpPr txBox="1"/>
          <p:nvPr/>
        </p:nvSpPr>
        <p:spPr>
          <a:xfrm>
            <a:off x="4800600" y="2606040"/>
            <a:ext cx="1600200" cy="1371600"/>
          </a:xfrm>
          <a:prstGeom prst="rect">
            <a:avLst/>
          </a:prstGeom>
          <a:noFill/>
          <a:ln/>
        </p:spPr>
        <p:txBody>
          <a:bodyPr wrap="square" lIns="0" tIns="0" rIns="0" bIns="0" rtlCol="0" anchor="t"/>
          <a:lstStyle/>
          <a:p>
            <a:pPr algn="ctr" indent="0" marL="0">
              <a:buNone/>
            </a:pPr>
            <a:r>
              <a:rPr lang="en-US" sz="1600" dirty="0">
                <a:solidFill>
                  <a:schemeClr val="tx1"/>
                </a:solidFill>
              </a:rPr>
              <a:t>NSFAS arrears owed to accommodation providers</a:t>
            </a:r>
            <a:endParaRPr lang="en-US" sz="1600" dirty="0"/>
          </a:p>
        </p:txBody>
      </p:sp>
      <p:sp>
        <p:nvSpPr>
          <p:cNvPr id="12" name="stat card 4"/>
          <p:cNvSpPr/>
          <p:nvPr/>
        </p:nvSpPr>
        <p:spPr>
          <a:xfrm>
            <a:off x="6720840" y="1371600"/>
            <a:ext cx="1874520" cy="2651760"/>
          </a:xfrm>
          <a:prstGeom prst="roundRect">
            <a:avLst>
              <a:gd name="adj" fmla="val 5854"/>
            </a:avLst>
          </a:prstGeom>
          <a:solidFill>
            <a:schemeClr val="bg2"/>
          </a:solidFill>
          <a:ln w="12700">
            <a:solidFill>
              <a:schemeClr val="bg2"/>
            </a:solidFill>
            <a:prstDash val="solid"/>
          </a:ln>
        </p:spPr>
      </p:sp>
      <p:sp>
        <p:nvSpPr>
          <p:cNvPr id="13" name="stat value 4"/>
          <p:cNvSpPr txBox="1"/>
          <p:nvPr/>
        </p:nvSpPr>
        <p:spPr>
          <a:xfrm>
            <a:off x="6812280" y="1600200"/>
            <a:ext cx="1691640" cy="868680"/>
          </a:xfrm>
          <a:prstGeom prst="rect">
            <a:avLst/>
          </a:prstGeom>
          <a:noFill/>
          <a:ln/>
        </p:spPr>
        <p:txBody>
          <a:bodyPr wrap="square" lIns="0" tIns="0" rIns="0" bIns="0" rtlCol="0" anchor="ctr"/>
          <a:lstStyle/>
          <a:p>
            <a:pPr algn="ctr" indent="0" marL="0">
              <a:buNone/>
            </a:pPr>
            <a:r>
              <a:rPr lang="en-US" sz="3800" b="1" dirty="0">
                <a:solidFill>
                  <a:schemeClr val="accent3"/>
                </a:solidFill>
                <a:latin typeface="Cambria" pitchFamily="34" charset="0"/>
                <a:ea typeface="Cambria" pitchFamily="34" charset="-122"/>
                <a:cs typeface="Cambria" pitchFamily="34" charset="-120"/>
              </a:rPr>
              <a:t>R5,500</a:t>
            </a:r>
            <a:endParaRPr lang="en-US" sz="3800" dirty="0"/>
          </a:p>
        </p:txBody>
      </p:sp>
      <p:sp>
        <p:nvSpPr>
          <p:cNvPr id="14" name="stat label 4"/>
          <p:cNvSpPr txBox="1"/>
          <p:nvPr/>
        </p:nvSpPr>
        <p:spPr>
          <a:xfrm>
            <a:off x="6858000" y="2606040"/>
            <a:ext cx="1600200" cy="1371600"/>
          </a:xfrm>
          <a:prstGeom prst="rect">
            <a:avLst/>
          </a:prstGeom>
          <a:noFill/>
          <a:ln/>
        </p:spPr>
        <p:txBody>
          <a:bodyPr wrap="square" lIns="0" tIns="0" rIns="0" bIns="0" rtlCol="0" anchor="t"/>
          <a:lstStyle/>
          <a:p>
            <a:pPr algn="ctr" indent="0" marL="0">
              <a:buNone/>
            </a:pPr>
            <a:r>
              <a:rPr lang="en-US" sz="1600" dirty="0">
                <a:solidFill>
                  <a:schemeClr val="tx1"/>
                </a:solidFill>
              </a:rPr>
              <a:t>lost by four TUT students to a fake landlord</a:t>
            </a:r>
            <a:endParaRPr lang="en-US" sz="1600" dirty="0"/>
          </a:p>
        </p:txBody>
      </p:sp>
      <p:sp>
        <p:nvSpPr>
          <p:cNvPr id="15" name="sources"/>
          <p:cNvSpPr txBox="1"/>
          <p:nvPr/>
        </p:nvSpPr>
        <p:spPr>
          <a:xfrm>
            <a:off x="548640" y="4206240"/>
            <a:ext cx="8046720" cy="365760"/>
          </a:xfrm>
          <a:prstGeom prst="rect">
            <a:avLst/>
          </a:prstGeom>
          <a:noFill/>
          <a:ln/>
        </p:spPr>
        <p:txBody>
          <a:bodyPr wrap="square" lIns="0" tIns="0" rIns="0" bIns="0" rtlCol="0" anchor="ctr"/>
          <a:lstStyle/>
          <a:p>
            <a:pPr indent="0" marL="0">
              <a:buNone/>
            </a:pPr>
            <a:r>
              <a:rPr lang="en-US" sz="1000" i="1" dirty="0">
                <a:solidFill>
                  <a:schemeClr val="accent5"/>
                </a:solidFill>
              </a:rPr>
              <a:t>Sources: Sunday Tribune (2026); Parliament of the Republic of South Africa (2026); Inside Education (2026); Cape Times (2015).</a:t>
            </a:r>
            <a:endParaRPr lang="en-US" sz="1000" dirty="0"/>
          </a:p>
        </p:txBody>
      </p:sp>
      <p:sp>
        <p:nvSpPr>
          <p:cNvPr id="25" name="Slide Number Placeholder 0"/>
          <p:cNvSpPr>
            <a:spLocks noGrp="1"/>
          </p:cNvSpPr>
          <p:nvPr>
            <p:ph type="sldNum" sz="quarter" idx="4294967295"/>
          </p:nvPr>
        </p:nvSpPr>
        <p:spPr>
          <a:xfrm>
            <a:off x="813816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400" b="1" dirty="0">
                <a:solidFill>
                  <a:schemeClr val="tx2"/>
                </a:solidFill>
              </a:rPr>
              <a:t>What one scam costs</a:t>
            </a:r>
            <a:endParaRPr lang="en-US" sz="3400" dirty="0"/>
          </a:p>
        </p:txBody>
      </p:sp>
      <p:graphicFrame>
        <p:nvGraphicFramePr>
          <p:cNvPr id="3" name="Chart 0" descr=""/>
          <p:cNvGraphicFramePr/>
          <p:nvPr/>
        </p:nvGraphicFramePr>
        <p:xfrm>
          <a:off x="548640" y="1280160"/>
          <a:ext cx="5120640" cy="3383280"/>
        </p:xfrm>
        <a:graphic xmlns:a="http://schemas.openxmlformats.org/drawingml/2006/main">
          <a:graphicData uri="http://schemas.openxmlformats.org/drawingml/2006/chart">
            <c:chart xmlns:c="http://schemas.openxmlformats.org/drawingml/2006/chart" r:id="rId1"/>
          </a:graphicData>
        </a:graphic>
      </p:graphicFrame>
      <p:sp>
        <p:nvSpPr>
          <p:cNvPr id="4" name="takeaway card"/>
          <p:cNvSpPr/>
          <p:nvPr/>
        </p:nvSpPr>
        <p:spPr>
          <a:xfrm>
            <a:off x="5943600" y="1371600"/>
            <a:ext cx="2651760" cy="3108960"/>
          </a:xfrm>
          <a:prstGeom prst="roundRect">
            <a:avLst>
              <a:gd name="adj" fmla="val 4138"/>
            </a:avLst>
          </a:prstGeom>
          <a:solidFill>
            <a:schemeClr val="tx2"/>
          </a:solidFill>
          <a:ln w="12700">
            <a:solidFill>
              <a:schemeClr val="tx2"/>
            </a:solidFill>
            <a:prstDash val="solid"/>
          </a:ln>
        </p:spPr>
      </p:sp>
      <p:sp>
        <p:nvSpPr>
          <p:cNvPr id="5" name="takeaway value"/>
          <p:cNvSpPr txBox="1"/>
          <p:nvPr/>
        </p:nvSpPr>
        <p:spPr>
          <a:xfrm>
            <a:off x="6126480" y="1600200"/>
            <a:ext cx="2286000" cy="731520"/>
          </a:xfrm>
          <a:prstGeom prst="rect">
            <a:avLst/>
          </a:prstGeom>
          <a:noFill/>
          <a:ln/>
        </p:spPr>
        <p:txBody>
          <a:bodyPr wrap="square" lIns="0" tIns="0" rIns="0" bIns="0" rtlCol="0" anchor="ctr"/>
          <a:lstStyle/>
          <a:p>
            <a:pPr indent="0" marL="0">
              <a:buNone/>
            </a:pPr>
            <a:r>
              <a:rPr lang="en-US" sz="3200" b="1" dirty="0">
                <a:solidFill>
                  <a:schemeClr val="accent2"/>
                </a:solidFill>
                <a:latin typeface="Cambria" pitchFamily="34" charset="0"/>
                <a:ea typeface="Cambria" pitchFamily="34" charset="-122"/>
                <a:cs typeface="Cambria" pitchFamily="34" charset="-120"/>
              </a:rPr>
              <a:t>35% to 42%</a:t>
            </a:r>
            <a:endParaRPr lang="en-US" sz="3200" dirty="0"/>
          </a:p>
        </p:txBody>
      </p:sp>
      <p:sp>
        <p:nvSpPr>
          <p:cNvPr id="6" name="takeaway text"/>
          <p:cNvSpPr txBox="1"/>
          <p:nvPr/>
        </p:nvSpPr>
        <p:spPr>
          <a:xfrm>
            <a:off x="6126480" y="2468880"/>
            <a:ext cx="2286000" cy="1737360"/>
          </a:xfrm>
          <a:prstGeom prst="rect">
            <a:avLst/>
          </a:prstGeom>
          <a:noFill/>
          <a:ln/>
        </p:spPr>
        <p:txBody>
          <a:bodyPr wrap="square" lIns="0" tIns="0" rIns="0" bIns="0" rtlCol="0" anchor="t"/>
          <a:lstStyle/>
          <a:p>
            <a:pPr indent="0" marL="0">
              <a:buNone/>
            </a:pPr>
            <a:r>
              <a:rPr lang="en-US" sz="1600" dirty="0">
                <a:solidFill>
                  <a:schemeClr val="bg1"/>
                </a:solidFill>
              </a:rPr>
              <a:t>of a month's non-metro NSFAS allowance (R4,264) is lost to a single deposit scam.</a:t>
            </a:r>
            <a:endParaRPr lang="en-US" sz="1600" dirty="0"/>
          </a:p>
        </p:txBody>
      </p:sp>
      <p:sp>
        <p:nvSpPr>
          <p:cNvPr id="25" name="Slide Number Placeholder 0"/>
          <p:cNvSpPr>
            <a:spLocks noGrp="1"/>
          </p:cNvSpPr>
          <p:nvPr>
            <p:ph type="sldNum" sz="quarter" idx="4294967295"/>
          </p:nvPr>
        </p:nvSpPr>
        <p:spPr>
          <a:xfrm>
            <a:off x="813816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400" b="1" dirty="0">
                <a:solidFill>
                  <a:schemeClr val="tx2"/>
                </a:solidFill>
              </a:rPr>
              <a:t>Our solution: StaySync</a:t>
            </a:r>
            <a:endParaRPr lang="en-US" sz="3400" dirty="0"/>
          </a:p>
        </p:txBody>
      </p:sp>
      <p:sp>
        <p:nvSpPr>
          <p:cNvPr id="3" name="platform mock panel"/>
          <p:cNvSpPr/>
          <p:nvPr/>
        </p:nvSpPr>
        <p:spPr>
          <a:xfrm>
            <a:off x="548640" y="1280160"/>
            <a:ext cx="4846320" cy="3383280"/>
          </a:xfrm>
          <a:prstGeom prst="roundRect">
            <a:avLst>
              <a:gd name="adj" fmla="val 3243"/>
            </a:avLst>
          </a:prstGeom>
          <a:solidFill>
            <a:schemeClr val="bg1"/>
          </a:solidFill>
          <a:ln w="19050">
            <a:solidFill>
              <a:schemeClr val="bg2"/>
            </a:solidFill>
            <a:prstDash val="solid"/>
          </a:ln>
          <a:effectLst>
            <a:outerShdw sx="100000" sy="100000" kx="0" ky="0" algn="bl" rotWithShape="0" blurRad="101600" dist="25400" dir="5400000">
              <a:srgbClr val="000000">
                <a:alpha val="12000"/>
              </a:srgbClr>
            </a:outerShdw>
          </a:effectLst>
        </p:spPr>
      </p:sp>
      <p:sp>
        <p:nvSpPr>
          <p:cNvPr id="4" name="mock brand"/>
          <p:cNvSpPr txBox="1"/>
          <p:nvPr/>
        </p:nvSpPr>
        <p:spPr>
          <a:xfrm>
            <a:off x="777240" y="1371600"/>
            <a:ext cx="1828800" cy="36576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StaySync</a:t>
            </a:r>
            <a:endParaRPr lang="en-US" sz="1800" dirty="0"/>
          </a:p>
        </p:txBody>
      </p:sp>
      <p:sp>
        <p:nvSpPr>
          <p:cNvPr id="5" name="tab active"/>
          <p:cNvSpPr/>
          <p:nvPr/>
        </p:nvSpPr>
        <p:spPr>
          <a:xfrm>
            <a:off x="777240" y="1828800"/>
            <a:ext cx="1737360" cy="347472"/>
          </a:xfrm>
          <a:prstGeom prst="roundRect">
            <a:avLst>
              <a:gd name="adj" fmla="val 50000"/>
            </a:avLst>
          </a:prstGeom>
          <a:solidFill>
            <a:schemeClr val="accent1"/>
          </a:solidFill>
          <a:ln w="12700">
            <a:solidFill>
              <a:schemeClr val="accent1"/>
            </a:solidFill>
            <a:prstDash val="solid"/>
          </a:ln>
        </p:spPr>
      </p:sp>
      <p:sp>
        <p:nvSpPr>
          <p:cNvPr id="6" name="tab active label"/>
          <p:cNvSpPr txBox="1"/>
          <p:nvPr/>
        </p:nvSpPr>
        <p:spPr>
          <a:xfrm>
            <a:off x="777240" y="1828800"/>
            <a:ext cx="1737360" cy="347472"/>
          </a:xfrm>
          <a:prstGeom prst="rect">
            <a:avLst/>
          </a:prstGeom>
          <a:noFill/>
          <a:ln/>
        </p:spPr>
        <p:txBody>
          <a:bodyPr wrap="square" lIns="0" tIns="0" rIns="0" bIns="0" rtlCol="0" anchor="ctr"/>
          <a:lstStyle/>
          <a:p>
            <a:pPr algn="ctr" indent="0" marL="0">
              <a:buNone/>
            </a:pPr>
            <a:r>
              <a:rPr lang="en-US" sz="1200" b="1" dirty="0">
                <a:solidFill>
                  <a:schemeClr val="bg1"/>
                </a:solidFill>
              </a:rPr>
              <a:t>NSFAS Accredited</a:t>
            </a:r>
            <a:endParaRPr lang="en-US" sz="1200" dirty="0"/>
          </a:p>
        </p:txBody>
      </p:sp>
      <p:sp>
        <p:nvSpPr>
          <p:cNvPr id="7" name="tab inactive"/>
          <p:cNvSpPr/>
          <p:nvPr/>
        </p:nvSpPr>
        <p:spPr>
          <a:xfrm>
            <a:off x="2651760" y="1828800"/>
            <a:ext cx="1280160" cy="347472"/>
          </a:xfrm>
          <a:prstGeom prst="roundRect">
            <a:avLst>
              <a:gd name="adj" fmla="val 50000"/>
            </a:avLst>
          </a:prstGeom>
          <a:solidFill>
            <a:schemeClr val="bg1"/>
          </a:solidFill>
          <a:ln w="15875">
            <a:solidFill>
              <a:schemeClr val="accent1"/>
            </a:solidFill>
            <a:prstDash val="solid"/>
          </a:ln>
        </p:spPr>
      </p:sp>
      <p:sp>
        <p:nvSpPr>
          <p:cNvPr id="8" name="tab inactive label"/>
          <p:cNvSpPr txBox="1"/>
          <p:nvPr/>
        </p:nvSpPr>
        <p:spPr>
          <a:xfrm>
            <a:off x="2651760" y="1828800"/>
            <a:ext cx="1280160" cy="347472"/>
          </a:xfrm>
          <a:prstGeom prst="rect">
            <a:avLst/>
          </a:prstGeom>
          <a:noFill/>
          <a:ln/>
        </p:spPr>
        <p:txBody>
          <a:bodyPr wrap="square" lIns="0" tIns="0" rIns="0" bIns="0" rtlCol="0" anchor="ctr"/>
          <a:lstStyle/>
          <a:p>
            <a:pPr algn="ctr" indent="0" marL="0">
              <a:buNone/>
            </a:pPr>
            <a:r>
              <a:rPr lang="en-US" sz="1200" b="1" dirty="0">
                <a:solidFill>
                  <a:schemeClr val="accent1"/>
                </a:solidFill>
              </a:rPr>
              <a:t>Independent</a:t>
            </a:r>
            <a:endParaRPr lang="en-US" sz="1200" dirty="0"/>
          </a:p>
        </p:txBody>
      </p:sp>
      <p:sp>
        <p:nvSpPr>
          <p:cNvPr id="9" name="listing card 1"/>
          <p:cNvSpPr/>
          <p:nvPr/>
        </p:nvSpPr>
        <p:spPr>
          <a:xfrm>
            <a:off x="777240" y="2377440"/>
            <a:ext cx="1417320" cy="2103120"/>
          </a:xfrm>
          <a:prstGeom prst="roundRect">
            <a:avLst>
              <a:gd name="adj" fmla="val 5161"/>
            </a:avLst>
          </a:prstGeom>
          <a:solidFill>
            <a:schemeClr val="bg2"/>
          </a:solidFill>
          <a:ln w="12700">
            <a:solidFill>
              <a:schemeClr val="bg2"/>
            </a:solidFill>
            <a:prstDash val="solid"/>
          </a:ln>
        </p:spPr>
      </p:sp>
      <p:pic>
        <p:nvPicPr>
          <p:cNvPr id="10" name="listing icon 1" descr="Home icon">    </p:cNvPr>
          <p:cNvPicPr>
            <a:picLocks noChangeAspect="1"/>
          </p:cNvPicPr>
          <p:nvPr/>
        </p:nvPicPr>
        <p:blipFill>
          <a:blip r:embed="rId1"/>
          <a:stretch>
            <a:fillRect/>
          </a:stretch>
        </p:blipFill>
        <p:spPr>
          <a:xfrm>
            <a:off x="1280160" y="2514600"/>
            <a:ext cx="411480" cy="411480"/>
          </a:xfrm>
          <a:prstGeom prst="rect">
            <a:avLst/>
          </a:prstGeom>
        </p:spPr>
      </p:pic>
      <p:sp>
        <p:nvSpPr>
          <p:cNvPr id="11" name="listing text 1"/>
          <p:cNvSpPr txBox="1"/>
          <p:nvPr/>
        </p:nvSpPr>
        <p:spPr>
          <a:xfrm>
            <a:off x="868680" y="3017520"/>
            <a:ext cx="1234440" cy="1371600"/>
          </a:xfrm>
          <a:prstGeom prst="rect">
            <a:avLst/>
          </a:prstGeom>
          <a:noFill/>
          <a:ln/>
        </p:spPr>
        <p:txBody>
          <a:bodyPr wrap="square" lIns="0" tIns="0" rIns="0" bIns="0" rtlCol="0" anchor="t"/>
          <a:lstStyle/>
          <a:p>
            <a:pPr indent="0" marL="0">
              <a:spcAft>
                <a:spcPts val="200"/>
              </a:spcAft>
              <a:buNone/>
            </a:pPr>
            <a:r>
              <a:rPr lang="en-US" sz="1300" b="1" dirty="0">
                <a:solidFill>
                  <a:schemeClr val="tx2"/>
                </a:solidFill>
              </a:rPr>
              <a:t>Campus View Residence</a:t>
            </a:r>
            <a:endParaRPr lang="en-US" sz="1300" dirty="0"/>
          </a:p>
          <a:p>
            <a:pPr indent="0" marL="0">
              <a:spcAft>
                <a:spcPts val="200"/>
              </a:spcAft>
              <a:buNone/>
            </a:pPr>
            <a:r>
              <a:rPr lang="en-US" sz="1100" dirty="0">
                <a:solidFill>
                  <a:schemeClr val="accent5"/>
                </a:solidFill>
              </a:rPr>
              <a:t>Pretoria</a:t>
            </a:r>
            <a:endParaRPr lang="en-US" sz="1300" dirty="0"/>
          </a:p>
          <a:p>
            <a:pPr indent="0" marL="0">
              <a:spcAft>
                <a:spcPts val="200"/>
              </a:spcAft>
              <a:buNone/>
            </a:pPr>
            <a:r>
              <a:rPr lang="en-US" sz="1100" dirty="0">
                <a:solidFill>
                  <a:schemeClr val="tx1"/>
                </a:solidFill>
              </a:rPr>
              <a:t>Single rooms, Wi-Fi, meals, study lounge</a:t>
            </a:r>
            <a:endParaRPr lang="en-US" sz="1300" dirty="0"/>
          </a:p>
        </p:txBody>
      </p:sp>
      <p:sp>
        <p:nvSpPr>
          <p:cNvPr id="12" name="listing card 2"/>
          <p:cNvSpPr/>
          <p:nvPr/>
        </p:nvSpPr>
        <p:spPr>
          <a:xfrm>
            <a:off x="2286000" y="2377440"/>
            <a:ext cx="1417320" cy="2103120"/>
          </a:xfrm>
          <a:prstGeom prst="roundRect">
            <a:avLst>
              <a:gd name="adj" fmla="val 5161"/>
            </a:avLst>
          </a:prstGeom>
          <a:solidFill>
            <a:schemeClr val="bg2"/>
          </a:solidFill>
          <a:ln w="12700">
            <a:solidFill>
              <a:schemeClr val="bg2"/>
            </a:solidFill>
            <a:prstDash val="solid"/>
          </a:ln>
        </p:spPr>
      </p:sp>
      <p:pic>
        <p:nvPicPr>
          <p:cNvPr id="13" name="listing icon 2" descr="Home icon">    </p:cNvPr>
          <p:cNvPicPr>
            <a:picLocks noChangeAspect="1"/>
          </p:cNvPicPr>
          <p:nvPr/>
        </p:nvPicPr>
        <p:blipFill>
          <a:blip r:embed="rId2"/>
          <a:stretch>
            <a:fillRect/>
          </a:stretch>
        </p:blipFill>
        <p:spPr>
          <a:xfrm>
            <a:off x="2788920" y="2514600"/>
            <a:ext cx="411480" cy="411480"/>
          </a:xfrm>
          <a:prstGeom prst="rect">
            <a:avLst/>
          </a:prstGeom>
        </p:spPr>
      </p:pic>
      <p:sp>
        <p:nvSpPr>
          <p:cNvPr id="14" name="listing text 2"/>
          <p:cNvSpPr txBox="1"/>
          <p:nvPr/>
        </p:nvSpPr>
        <p:spPr>
          <a:xfrm>
            <a:off x="2377440" y="3017520"/>
            <a:ext cx="1234440" cy="1371600"/>
          </a:xfrm>
          <a:prstGeom prst="rect">
            <a:avLst/>
          </a:prstGeom>
          <a:noFill/>
          <a:ln/>
        </p:spPr>
        <p:txBody>
          <a:bodyPr wrap="square" lIns="0" tIns="0" rIns="0" bIns="0" rtlCol="0" anchor="t"/>
          <a:lstStyle/>
          <a:p>
            <a:pPr indent="0" marL="0">
              <a:spcAft>
                <a:spcPts val="200"/>
              </a:spcAft>
              <a:buNone/>
            </a:pPr>
            <a:r>
              <a:rPr lang="en-US" sz="1300" b="1" dirty="0">
                <a:solidFill>
                  <a:schemeClr val="tx2"/>
                </a:solidFill>
              </a:rPr>
              <a:t>Bluebird Lodge</a:t>
            </a:r>
            <a:endParaRPr lang="en-US" sz="1300" dirty="0"/>
          </a:p>
          <a:p>
            <a:pPr indent="0" marL="0">
              <a:spcAft>
                <a:spcPts val="200"/>
              </a:spcAft>
              <a:buNone/>
            </a:pPr>
            <a:r>
              <a:rPr lang="en-US" sz="1100" dirty="0">
                <a:solidFill>
                  <a:schemeClr val="accent5"/>
                </a:solidFill>
              </a:rPr>
              <a:t>Johannesburg</a:t>
            </a:r>
            <a:endParaRPr lang="en-US" sz="1300" dirty="0"/>
          </a:p>
          <a:p>
            <a:pPr indent="0" marL="0">
              <a:spcAft>
                <a:spcPts val="200"/>
              </a:spcAft>
              <a:buNone/>
            </a:pPr>
            <a:r>
              <a:rPr lang="en-US" sz="1100" dirty="0">
                <a:solidFill>
                  <a:schemeClr val="tx1"/>
                </a:solidFill>
              </a:rPr>
              <a:t>Shared rooms, laundry, security, transport</a:t>
            </a:r>
            <a:endParaRPr lang="en-US" sz="1300" dirty="0"/>
          </a:p>
        </p:txBody>
      </p:sp>
      <p:sp>
        <p:nvSpPr>
          <p:cNvPr id="15" name="listing card 3"/>
          <p:cNvSpPr/>
          <p:nvPr/>
        </p:nvSpPr>
        <p:spPr>
          <a:xfrm>
            <a:off x="3794760" y="2377440"/>
            <a:ext cx="1417320" cy="2103120"/>
          </a:xfrm>
          <a:prstGeom prst="roundRect">
            <a:avLst>
              <a:gd name="adj" fmla="val 5161"/>
            </a:avLst>
          </a:prstGeom>
          <a:solidFill>
            <a:schemeClr val="bg2"/>
          </a:solidFill>
          <a:ln w="12700">
            <a:solidFill>
              <a:schemeClr val="bg2"/>
            </a:solidFill>
            <a:prstDash val="solid"/>
          </a:ln>
        </p:spPr>
      </p:sp>
      <p:pic>
        <p:nvPicPr>
          <p:cNvPr id="16" name="listing icon 3" descr="Home icon">    </p:cNvPr>
          <p:cNvPicPr>
            <a:picLocks noChangeAspect="1"/>
          </p:cNvPicPr>
          <p:nvPr/>
        </p:nvPicPr>
        <p:blipFill>
          <a:blip r:embed="rId3"/>
          <a:stretch>
            <a:fillRect/>
          </a:stretch>
        </p:blipFill>
        <p:spPr>
          <a:xfrm>
            <a:off x="4297680" y="2514600"/>
            <a:ext cx="411480" cy="411480"/>
          </a:xfrm>
          <a:prstGeom prst="rect">
            <a:avLst/>
          </a:prstGeom>
        </p:spPr>
      </p:pic>
      <p:sp>
        <p:nvSpPr>
          <p:cNvPr id="17" name="listing text 3"/>
          <p:cNvSpPr txBox="1"/>
          <p:nvPr/>
        </p:nvSpPr>
        <p:spPr>
          <a:xfrm>
            <a:off x="3886200" y="3017520"/>
            <a:ext cx="1234440" cy="1371600"/>
          </a:xfrm>
          <a:prstGeom prst="rect">
            <a:avLst/>
          </a:prstGeom>
          <a:noFill/>
          <a:ln/>
        </p:spPr>
        <p:txBody>
          <a:bodyPr wrap="square" lIns="0" tIns="0" rIns="0" bIns="0" rtlCol="0" anchor="t"/>
          <a:lstStyle/>
          <a:p>
            <a:pPr indent="0" marL="0">
              <a:spcAft>
                <a:spcPts val="200"/>
              </a:spcAft>
              <a:buNone/>
            </a:pPr>
            <a:r>
              <a:rPr lang="en-US" sz="1300" b="1" dirty="0">
                <a:solidFill>
                  <a:schemeClr val="tx2"/>
                </a:solidFill>
              </a:rPr>
              <a:t>Greenwood Homes</a:t>
            </a:r>
            <a:endParaRPr lang="en-US" sz="1300" dirty="0"/>
          </a:p>
          <a:p>
            <a:pPr indent="0" marL="0">
              <a:spcAft>
                <a:spcPts val="200"/>
              </a:spcAft>
              <a:buNone/>
            </a:pPr>
            <a:r>
              <a:rPr lang="en-US" sz="1100" dirty="0">
                <a:solidFill>
                  <a:schemeClr val="accent5"/>
                </a:solidFill>
              </a:rPr>
              <a:t>Cape Town</a:t>
            </a:r>
            <a:endParaRPr lang="en-US" sz="1300" dirty="0"/>
          </a:p>
          <a:p>
            <a:pPr indent="0" marL="0">
              <a:spcAft>
                <a:spcPts val="200"/>
              </a:spcAft>
              <a:buNone/>
            </a:pPr>
            <a:r>
              <a:rPr lang="en-US" sz="1100" dirty="0">
                <a:solidFill>
                  <a:schemeClr val="tx1"/>
                </a:solidFill>
              </a:rPr>
              <a:t>Private rooms, kitchen access, cleaning</a:t>
            </a:r>
            <a:endParaRPr lang="en-US" sz="1300" dirty="0"/>
          </a:p>
        </p:txBody>
      </p:sp>
      <p:sp>
        <p:nvSpPr>
          <p:cNvPr id="18" name="feature 1"/>
          <p:cNvSpPr txBox="1"/>
          <p:nvPr/>
        </p:nvSpPr>
        <p:spPr>
          <a:xfrm>
            <a:off x="5715000" y="1280160"/>
            <a:ext cx="2880360" cy="1051560"/>
          </a:xfrm>
          <a:prstGeom prst="rect">
            <a:avLst/>
          </a:prstGeom>
          <a:noFill/>
          <a:ln/>
        </p:spPr>
        <p:txBody>
          <a:bodyPr wrap="square" lIns="0" tIns="0" rIns="0" bIns="0" rtlCol="0" anchor="t"/>
          <a:lstStyle/>
          <a:p>
            <a:pPr indent="0" marL="0">
              <a:spcAft>
                <a:spcPts val="300"/>
              </a:spcAft>
              <a:buNone/>
            </a:pPr>
            <a:r>
              <a:rPr lang="en-US" sz="1800" b="1" dirty="0">
                <a:solidFill>
                  <a:schemeClr val="tx2"/>
                </a:solidFill>
              </a:rPr>
              <a:t>One trusted place</a:t>
            </a:r>
            <a:endParaRPr lang="en-US" sz="1800" dirty="0"/>
          </a:p>
          <a:p>
            <a:pPr indent="0" marL="0">
              <a:spcAft>
                <a:spcPts val="300"/>
              </a:spcAft>
              <a:buNone/>
            </a:pPr>
            <a:r>
              <a:rPr lang="en-US" sz="1400" dirty="0">
                <a:solidFill>
                  <a:schemeClr val="tx1"/>
                </a:solidFill>
              </a:rPr>
              <a:t>Students browse structured listings instead of social media ads.</a:t>
            </a:r>
            <a:endParaRPr lang="en-US" sz="1800" dirty="0"/>
          </a:p>
        </p:txBody>
      </p:sp>
      <p:sp>
        <p:nvSpPr>
          <p:cNvPr id="19" name="feature 2"/>
          <p:cNvSpPr txBox="1"/>
          <p:nvPr/>
        </p:nvSpPr>
        <p:spPr>
          <a:xfrm>
            <a:off x="5715000" y="2423160"/>
            <a:ext cx="2880360" cy="1051560"/>
          </a:xfrm>
          <a:prstGeom prst="rect">
            <a:avLst/>
          </a:prstGeom>
          <a:noFill/>
          <a:ln/>
        </p:spPr>
        <p:txBody>
          <a:bodyPr wrap="square" lIns="0" tIns="0" rIns="0" bIns="0" rtlCol="0" anchor="t"/>
          <a:lstStyle/>
          <a:p>
            <a:pPr indent="0" marL="0">
              <a:spcAft>
                <a:spcPts val="300"/>
              </a:spcAft>
              <a:buNone/>
            </a:pPr>
            <a:r>
              <a:rPr lang="en-US" sz="1800" b="1" dirty="0">
                <a:solidFill>
                  <a:schemeClr val="tx2"/>
                </a:solidFill>
              </a:rPr>
              <a:t>Two-tier filtering</a:t>
            </a:r>
            <a:endParaRPr lang="en-US" sz="1800" dirty="0"/>
          </a:p>
          <a:p>
            <a:pPr indent="0" marL="0">
              <a:spcAft>
                <a:spcPts val="300"/>
              </a:spcAft>
              <a:buNone/>
            </a:pPr>
            <a:r>
              <a:rPr lang="en-US" sz="1400" dirty="0">
                <a:solidFill>
                  <a:schemeClr val="tx1"/>
                </a:solidFill>
              </a:rPr>
              <a:t>NSFAS Accredited and Independent tabs show what NSFAS will fund.</a:t>
            </a:r>
            <a:endParaRPr lang="en-US" sz="1800" dirty="0"/>
          </a:p>
        </p:txBody>
      </p:sp>
      <p:sp>
        <p:nvSpPr>
          <p:cNvPr id="20" name="feature 3"/>
          <p:cNvSpPr txBox="1"/>
          <p:nvPr/>
        </p:nvSpPr>
        <p:spPr>
          <a:xfrm>
            <a:off x="5715000" y="3566160"/>
            <a:ext cx="2880360" cy="1051560"/>
          </a:xfrm>
          <a:prstGeom prst="rect">
            <a:avLst/>
          </a:prstGeom>
          <a:noFill/>
          <a:ln/>
        </p:spPr>
        <p:txBody>
          <a:bodyPr wrap="square" lIns="0" tIns="0" rIns="0" bIns="0" rtlCol="0" anchor="t"/>
          <a:lstStyle/>
          <a:p>
            <a:pPr indent="0" marL="0">
              <a:spcAft>
                <a:spcPts val="300"/>
              </a:spcAft>
              <a:buNone/>
            </a:pPr>
            <a:r>
              <a:rPr lang="en-US" sz="1800" b="1" dirty="0">
                <a:solidFill>
                  <a:schemeClr val="tx2"/>
                </a:solidFill>
              </a:rPr>
              <a:t>Six student hubs</a:t>
            </a:r>
            <a:endParaRPr lang="en-US" sz="1800" dirty="0"/>
          </a:p>
          <a:p>
            <a:pPr indent="0" marL="0">
              <a:spcAft>
                <a:spcPts val="300"/>
              </a:spcAft>
              <a:buNone/>
            </a:pPr>
            <a:r>
              <a:rPr lang="en-US" sz="1400" dirty="0">
                <a:solidFill>
                  <a:schemeClr val="tx1"/>
                </a:solidFill>
              </a:rPr>
              <a:t>Pretoria, Johannesburg, Cape Town, Durban, Bloemfontein, East London.</a:t>
            </a:r>
            <a:endParaRPr lang="en-US" sz="1800" dirty="0"/>
          </a:p>
        </p:txBody>
      </p:sp>
      <p:sp>
        <p:nvSpPr>
          <p:cNvPr id="25" name="Slide Number Placeholder 0"/>
          <p:cNvSpPr>
            <a:spLocks noGrp="1"/>
          </p:cNvSpPr>
          <p:nvPr>
            <p:ph type="sldNum" sz="quarter" idx="4294967295"/>
          </p:nvPr>
        </p:nvSpPr>
        <p:spPr>
          <a:xfrm>
            <a:off x="813816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400" b="1" dirty="0">
                <a:solidFill>
                  <a:schemeClr val="tx2"/>
                </a:solidFill>
              </a:rPr>
              <a:t>How StaySync responds</a:t>
            </a:r>
            <a:endParaRPr lang="en-US" sz="3400" dirty="0"/>
          </a:p>
        </p:txBody>
      </p:sp>
      <p:graphicFrame>
        <p:nvGraphicFramePr>
          <p:cNvPr id="9" name="response table"/>
          <p:cNvGraphicFramePr>
            <a:graphicFrameLocks noGrp="1"/>
          </p:cNvGraphicFramePr>
          <p:nvPr>
            <p:extLst>
              <p:ext uri="{D42A27DB-BD31-4B8C-83A1-F6EECF244321}">
                <p14:modId xmlns:p14="http://schemas.microsoft.com/office/powerpoint/2010/main" val="1579011935"/>
              </p:ext>
            </p:extLst>
          </p:nvPr>
        </p:nvGraphicFramePr>
        <p:xfrm>
          <a:off x="548640" y="1280160"/>
          <a:ext cx="8046720" cy="914400"/>
        </p:xfrm>
        <a:graphic>
          <a:graphicData uri="http://schemas.openxmlformats.org/drawingml/2006/table">
            <a:tbl>
              <a:tblPr/>
              <a:tblGrid>
                <a:gridCol w="2468880"/>
                <a:gridCol w="5577840"/>
              </a:tblGrid>
              <a:tr h="384048">
                <a:tc>
                  <a:txBody>
                    <a:bodyPr/>
                    <a:lstStyle/>
                    <a:p>
                      <a:pPr indent="0" marL="0">
                        <a:buNone/>
                      </a:pPr>
                      <a:r>
                        <a:rPr lang="en-US" sz="1400" b="1" dirty="0">
                          <a:solidFill>
                            <a:schemeClr val="bg1"/>
                          </a:solidFill>
                        </a:rPr>
                        <a:t>Problem</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400" b="1" dirty="0">
                          <a:solidFill>
                            <a:schemeClr val="bg1"/>
                          </a:solidFill>
                        </a:rPr>
                        <a:t>StaySync response</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tx2"/>
                    </a:solidFill>
                  </a:tcPr>
                </a:tc>
              </a:tr>
              <a:tr h="603504">
                <a:tc>
                  <a:txBody>
                    <a:bodyPr/>
                    <a:lstStyle/>
                    <a:p>
                      <a:pPr indent="0" marL="0">
                        <a:buNone/>
                      </a:pPr>
                      <a:r>
                        <a:rPr lang="en-US" sz="1400" b="1" dirty="0">
                          <a:solidFill>
                            <a:schemeClr val="tx2"/>
                          </a:solidFill>
                        </a:rPr>
                        <a:t>Scams</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Structured listings with full address and amenities replace unverified social media ads.</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r>
              <a:tr h="603504">
                <a:tc>
                  <a:txBody>
                    <a:bodyPr/>
                    <a:lstStyle/>
                    <a:p>
                      <a:pPr indent="0" marL="0">
                        <a:buNone/>
                      </a:pPr>
                      <a:r>
                        <a:rPr lang="en-US" sz="1400" b="1" dirty="0">
                          <a:solidFill>
                            <a:schemeClr val="tx2"/>
                          </a:solidFill>
                        </a:rPr>
                        <a:t>Accreditation confusion</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Separate NSFAS Accredited and Independent tabs show funding fit at a glance.</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r>
              <a:tr h="603504">
                <a:tc>
                  <a:txBody>
                    <a:bodyPr/>
                    <a:lstStyle/>
                    <a:p>
                      <a:pPr indent="0" marL="0">
                        <a:buNone/>
                      </a:pPr>
                      <a:r>
                        <a:rPr lang="en-US" sz="1400" b="1" dirty="0">
                          <a:solidFill>
                            <a:schemeClr val="tx2"/>
                          </a:solidFill>
                        </a:rPr>
                        <a:t>Unclear details</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Every card follows one format: location, room type, utilities and amenities.</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r>
              <a:tr h="603504">
                <a:tc>
                  <a:txBody>
                    <a:bodyPr/>
                    <a:lstStyle/>
                    <a:p>
                      <a:pPr indent="0" marL="0">
                        <a:buNone/>
                      </a:pPr>
                      <a:r>
                        <a:rPr lang="en-US" sz="1400" b="1" dirty="0">
                          <a:solidFill>
                            <a:schemeClr val="tx2"/>
                          </a:solidFill>
                        </a:rPr>
                        <a:t>Payment delays</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Landlords are urged to register for NSFAS accreditation; NSFAS shares verified registers.</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r>
              <a:tr h="603504">
                <a:tc>
                  <a:txBody>
                    <a:bodyPr/>
                    <a:lstStyle/>
                    <a:p>
                      <a:pPr indent="0" marL="0">
                        <a:buNone/>
                      </a:pPr>
                      <a:r>
                        <a:rPr lang="en-US" sz="1400" b="1" dirty="0">
                          <a:solidFill>
                            <a:schemeClr val="tx2"/>
                          </a:solidFill>
                        </a:rPr>
                        <a:t>Bed shortage</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Six-city coverage widens options, including independent housing when accredited beds run out.</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25" name="Slide Number Placeholder 0"/>
          <p:cNvSpPr>
            <a:spLocks noGrp="1"/>
          </p:cNvSpPr>
          <p:nvPr>
            <p:ph type="sldNum" sz="quarter" idx="4294967295"/>
          </p:nvPr>
        </p:nvSpPr>
        <p:spPr>
          <a:xfrm>
            <a:off x="813816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400" b="1" dirty="0">
                <a:solidFill>
                  <a:schemeClr val="tx2"/>
                </a:solidFill>
              </a:rPr>
              <a:t>What comes next</a:t>
            </a:r>
            <a:endParaRPr lang="en-US" sz="3400" dirty="0"/>
          </a:p>
        </p:txBody>
      </p:sp>
      <p:sp>
        <p:nvSpPr>
          <p:cNvPr id="3" name="Secure payments card"/>
          <p:cNvSpPr/>
          <p:nvPr/>
        </p:nvSpPr>
        <p:spPr>
          <a:xfrm>
            <a:off x="548640" y="1325880"/>
            <a:ext cx="2560320" cy="2514600"/>
          </a:xfrm>
          <a:prstGeom prst="roundRect">
            <a:avLst>
              <a:gd name="adj" fmla="val 4364"/>
            </a:avLst>
          </a:prstGeom>
          <a:solidFill>
            <a:schemeClr val="bg2"/>
          </a:solidFill>
          <a:ln w="12700">
            <a:solidFill>
              <a:schemeClr val="bg2"/>
            </a:solidFill>
            <a:prstDash val="solid"/>
          </a:ln>
        </p:spPr>
      </p:sp>
      <p:sp>
        <p:nvSpPr>
          <p:cNvPr id="4" name="Secure payments icon circle"/>
          <p:cNvSpPr/>
          <p:nvPr/>
        </p:nvSpPr>
        <p:spPr>
          <a:xfrm>
            <a:off x="777240" y="1554480"/>
            <a:ext cx="640080" cy="640080"/>
          </a:xfrm>
          <a:prstGeom prst="ellipse">
            <a:avLst/>
          </a:prstGeom>
          <a:solidFill>
            <a:schemeClr val="accent1"/>
          </a:solidFill>
          <a:ln w="12700">
            <a:solidFill>
              <a:schemeClr val="accent1"/>
            </a:solidFill>
            <a:prstDash val="solid"/>
          </a:ln>
        </p:spPr>
      </p:sp>
      <p:pic>
        <p:nvPicPr>
          <p:cNvPr id="5" name="Secure payments icon" descr="Secure payments icon">    </p:cNvPr>
          <p:cNvPicPr>
            <a:picLocks noChangeAspect="1"/>
          </p:cNvPicPr>
          <p:nvPr/>
        </p:nvPicPr>
        <p:blipFill>
          <a:blip r:embed="rId1"/>
          <a:stretch>
            <a:fillRect/>
          </a:stretch>
        </p:blipFill>
        <p:spPr>
          <a:xfrm>
            <a:off x="932688" y="1709928"/>
            <a:ext cx="329184" cy="329184"/>
          </a:xfrm>
          <a:prstGeom prst="rect">
            <a:avLst/>
          </a:prstGeom>
        </p:spPr>
      </p:pic>
      <p:sp>
        <p:nvSpPr>
          <p:cNvPr id="6" name="Secure payments text"/>
          <p:cNvSpPr txBox="1"/>
          <p:nvPr/>
        </p:nvSpPr>
        <p:spPr>
          <a:xfrm>
            <a:off x="777240" y="2377440"/>
            <a:ext cx="2103120" cy="155448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Secure payments</a:t>
            </a:r>
            <a:endParaRPr lang="en-US" sz="1800" dirty="0"/>
          </a:p>
          <a:p>
            <a:pPr indent="0" marL="0">
              <a:spcAft>
                <a:spcPts val="400"/>
              </a:spcAft>
              <a:buNone/>
            </a:pPr>
            <a:r>
              <a:rPr lang="en-US" sz="1400" dirty="0">
                <a:solidFill>
                  <a:schemeClr val="tx1"/>
                </a:solidFill>
              </a:rPr>
              <a:t>Digital lease signing and deposit payment gateways inside StaySync.</a:t>
            </a:r>
            <a:endParaRPr lang="en-US" sz="1800" dirty="0"/>
          </a:p>
        </p:txBody>
      </p:sp>
      <p:sp>
        <p:nvSpPr>
          <p:cNvPr id="7" name="Smart search card"/>
          <p:cNvSpPr/>
          <p:nvPr/>
        </p:nvSpPr>
        <p:spPr>
          <a:xfrm>
            <a:off x="3291840" y="1325880"/>
            <a:ext cx="2560320" cy="2514600"/>
          </a:xfrm>
          <a:prstGeom prst="roundRect">
            <a:avLst>
              <a:gd name="adj" fmla="val 4364"/>
            </a:avLst>
          </a:prstGeom>
          <a:solidFill>
            <a:schemeClr val="bg2"/>
          </a:solidFill>
          <a:ln w="12700">
            <a:solidFill>
              <a:schemeClr val="bg2"/>
            </a:solidFill>
            <a:prstDash val="solid"/>
          </a:ln>
        </p:spPr>
      </p:sp>
      <p:sp>
        <p:nvSpPr>
          <p:cNvPr id="8" name="Smart search icon circle"/>
          <p:cNvSpPr/>
          <p:nvPr/>
        </p:nvSpPr>
        <p:spPr>
          <a:xfrm>
            <a:off x="3520440" y="1554480"/>
            <a:ext cx="640080" cy="640080"/>
          </a:xfrm>
          <a:prstGeom prst="ellipse">
            <a:avLst/>
          </a:prstGeom>
          <a:solidFill>
            <a:schemeClr val="accent4"/>
          </a:solidFill>
          <a:ln w="12700">
            <a:solidFill>
              <a:schemeClr val="accent4"/>
            </a:solidFill>
            <a:prstDash val="solid"/>
          </a:ln>
        </p:spPr>
      </p:sp>
      <p:pic>
        <p:nvPicPr>
          <p:cNvPr id="9" name="Smart search icon" descr="Smart search icon">    </p:cNvPr>
          <p:cNvPicPr>
            <a:picLocks noChangeAspect="1"/>
          </p:cNvPicPr>
          <p:nvPr/>
        </p:nvPicPr>
        <p:blipFill>
          <a:blip r:embed="rId2"/>
          <a:stretch>
            <a:fillRect/>
          </a:stretch>
        </p:blipFill>
        <p:spPr>
          <a:xfrm>
            <a:off x="3675888" y="1709928"/>
            <a:ext cx="329184" cy="329184"/>
          </a:xfrm>
          <a:prstGeom prst="rect">
            <a:avLst/>
          </a:prstGeom>
        </p:spPr>
      </p:pic>
      <p:sp>
        <p:nvSpPr>
          <p:cNvPr id="10" name="Smart search text"/>
          <p:cNvSpPr txBox="1"/>
          <p:nvPr/>
        </p:nvSpPr>
        <p:spPr>
          <a:xfrm>
            <a:off x="3520440" y="2377440"/>
            <a:ext cx="2103120" cy="155448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Smart search</a:t>
            </a:r>
            <a:endParaRPr lang="en-US" sz="1800" dirty="0"/>
          </a:p>
          <a:p>
            <a:pPr indent="0" marL="0">
              <a:spcAft>
                <a:spcPts val="400"/>
              </a:spcAft>
              <a:buNone/>
            </a:pPr>
            <a:r>
              <a:rPr lang="en-US" sz="1400" dirty="0">
                <a:solidFill>
                  <a:schemeClr val="tx1"/>
                </a:solidFill>
              </a:rPr>
              <a:t>Interactive map and distance-to-campus filters across all provinces.</a:t>
            </a:r>
            <a:endParaRPr lang="en-US" sz="1800" dirty="0"/>
          </a:p>
        </p:txBody>
      </p:sp>
      <p:sp>
        <p:nvSpPr>
          <p:cNvPr id="11" name="Verified listings card"/>
          <p:cNvSpPr/>
          <p:nvPr/>
        </p:nvSpPr>
        <p:spPr>
          <a:xfrm>
            <a:off x="6035040" y="1325880"/>
            <a:ext cx="2560320" cy="2514600"/>
          </a:xfrm>
          <a:prstGeom prst="roundRect">
            <a:avLst>
              <a:gd name="adj" fmla="val 4364"/>
            </a:avLst>
          </a:prstGeom>
          <a:solidFill>
            <a:schemeClr val="bg2"/>
          </a:solidFill>
          <a:ln w="12700">
            <a:solidFill>
              <a:schemeClr val="bg2"/>
            </a:solidFill>
            <a:prstDash val="solid"/>
          </a:ln>
        </p:spPr>
      </p:sp>
      <p:sp>
        <p:nvSpPr>
          <p:cNvPr id="12" name="Verified listings icon circle"/>
          <p:cNvSpPr/>
          <p:nvPr/>
        </p:nvSpPr>
        <p:spPr>
          <a:xfrm>
            <a:off x="6263640" y="1554480"/>
            <a:ext cx="640080" cy="640080"/>
          </a:xfrm>
          <a:prstGeom prst="ellipse">
            <a:avLst/>
          </a:prstGeom>
          <a:solidFill>
            <a:schemeClr val="accent2"/>
          </a:solidFill>
          <a:ln w="12700">
            <a:solidFill>
              <a:schemeClr val="accent2"/>
            </a:solidFill>
            <a:prstDash val="solid"/>
          </a:ln>
        </p:spPr>
      </p:sp>
      <p:pic>
        <p:nvPicPr>
          <p:cNvPr id="13" name="Verified listings icon" descr="Verified listings icon">    </p:cNvPr>
          <p:cNvPicPr>
            <a:picLocks noChangeAspect="1"/>
          </p:cNvPicPr>
          <p:nvPr/>
        </p:nvPicPr>
        <p:blipFill>
          <a:blip r:embed="rId3"/>
          <a:stretch>
            <a:fillRect/>
          </a:stretch>
        </p:blipFill>
        <p:spPr>
          <a:xfrm>
            <a:off x="6419088" y="1709928"/>
            <a:ext cx="329184" cy="329184"/>
          </a:xfrm>
          <a:prstGeom prst="rect">
            <a:avLst/>
          </a:prstGeom>
        </p:spPr>
      </p:pic>
      <p:sp>
        <p:nvSpPr>
          <p:cNvPr id="14" name="Verified listings text"/>
          <p:cNvSpPr txBox="1"/>
          <p:nvPr/>
        </p:nvSpPr>
        <p:spPr>
          <a:xfrm>
            <a:off x="6263640" y="2377440"/>
            <a:ext cx="2103120" cy="155448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Verified listings</a:t>
            </a:r>
            <a:endParaRPr lang="en-US" sz="1800" dirty="0"/>
          </a:p>
          <a:p>
            <a:pPr indent="0" marL="0">
              <a:spcAft>
                <a:spcPts val="400"/>
              </a:spcAft>
              <a:buNone/>
            </a:pPr>
            <a:r>
              <a:rPr lang="en-US" sz="1400" dirty="0">
                <a:solidFill>
                  <a:schemeClr val="tx1"/>
                </a:solidFill>
              </a:rPr>
              <a:t>Landlord identity checks and automatic NSFAS accreditation sync.</a:t>
            </a:r>
            <a:endParaRPr lang="en-US" sz="1800" dirty="0"/>
          </a:p>
        </p:txBody>
      </p:sp>
      <p:sp>
        <p:nvSpPr>
          <p:cNvPr id="15" name="partnership note"/>
          <p:cNvSpPr txBox="1"/>
          <p:nvPr/>
        </p:nvSpPr>
        <p:spPr>
          <a:xfrm>
            <a:off x="548640" y="4023360"/>
            <a:ext cx="8046720" cy="548640"/>
          </a:xfrm>
          <a:prstGeom prst="rect">
            <a:avLst/>
          </a:prstGeom>
          <a:noFill/>
          <a:ln/>
        </p:spPr>
        <p:txBody>
          <a:bodyPr wrap="square" lIns="0" tIns="0" rIns="0" bIns="0" rtlCol="0" anchor="ctr"/>
          <a:lstStyle/>
          <a:p>
            <a:pPr indent="0" marL="0">
              <a:buNone/>
            </a:pPr>
            <a:r>
              <a:rPr lang="en-US" sz="1400" i="1" dirty="0">
                <a:solidFill>
                  <a:schemeClr val="tx2"/>
                </a:solidFill>
              </a:rPr>
              <a:t>Universities and NSFAS can endorse StaySync and share accredited property registers to keep listings live and verified.</a:t>
            </a:r>
            <a:endParaRPr lang="en-US" sz="1400" dirty="0"/>
          </a:p>
        </p:txBody>
      </p:sp>
      <p:sp>
        <p:nvSpPr>
          <p:cNvPr id="25" name="Slide Number Placeholder 0"/>
          <p:cNvSpPr>
            <a:spLocks noGrp="1"/>
          </p:cNvSpPr>
          <p:nvPr>
            <p:ph type="sldNum" sz="quarter" idx="4294967295"/>
          </p:nvPr>
        </p:nvSpPr>
        <p:spPr>
          <a:xfrm>
            <a:off x="813816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400" b="1" dirty="0">
                <a:solidFill>
                  <a:schemeClr val="bg1"/>
                </a:solidFill>
              </a:rPr>
              <a:t>In conclusion</a:t>
            </a:r>
            <a:endParaRPr lang="en-US" sz="3400" dirty="0"/>
          </a:p>
        </p:txBody>
      </p:sp>
      <p:sp>
        <p:nvSpPr>
          <p:cNvPr id="3" name="check circle 1"/>
          <p:cNvSpPr/>
          <p:nvPr/>
        </p:nvSpPr>
        <p:spPr>
          <a:xfrm>
            <a:off x="548640" y="1444752"/>
            <a:ext cx="502920" cy="502920"/>
          </a:xfrm>
          <a:prstGeom prst="ellipse">
            <a:avLst/>
          </a:prstGeom>
          <a:solidFill>
            <a:schemeClr val="accent2"/>
          </a:solidFill>
          <a:ln w="12700">
            <a:solidFill>
              <a:schemeClr val="accent2"/>
            </a:solidFill>
            <a:prstDash val="solid"/>
          </a:ln>
        </p:spPr>
      </p:sp>
      <p:pic>
        <p:nvPicPr>
          <p:cNvPr id="4" name="check 1" descr="Check mark">    </p:cNvPr>
          <p:cNvPicPr>
            <a:picLocks noChangeAspect="1"/>
          </p:cNvPicPr>
          <p:nvPr/>
        </p:nvPicPr>
        <p:blipFill>
          <a:blip r:embed="rId1"/>
          <a:stretch>
            <a:fillRect/>
          </a:stretch>
        </p:blipFill>
        <p:spPr>
          <a:xfrm>
            <a:off x="676656" y="1572768"/>
            <a:ext cx="246888" cy="246888"/>
          </a:xfrm>
          <a:prstGeom prst="rect">
            <a:avLst/>
          </a:prstGeom>
        </p:spPr>
      </p:pic>
      <p:sp>
        <p:nvSpPr>
          <p:cNvPr id="5" name="conclusion 1"/>
          <p:cNvSpPr txBox="1"/>
          <p:nvPr/>
        </p:nvSpPr>
        <p:spPr>
          <a:xfrm>
            <a:off x="1280160" y="1371600"/>
            <a:ext cx="7315200" cy="658368"/>
          </a:xfrm>
          <a:prstGeom prst="rect">
            <a:avLst/>
          </a:prstGeom>
          <a:noFill/>
          <a:ln/>
        </p:spPr>
        <p:txBody>
          <a:bodyPr wrap="square" lIns="0" tIns="0" rIns="0" bIns="0" rtlCol="0" anchor="ctr"/>
          <a:lstStyle/>
          <a:p>
            <a:pPr indent="0" marL="0">
              <a:buNone/>
            </a:pPr>
            <a:r>
              <a:rPr lang="en-US" sz="1800" dirty="0">
                <a:solidFill>
                  <a:schemeClr val="bg1"/>
                </a:solidFill>
              </a:rPr>
              <a:t>Traditional housing searches are inefficient, insecure and hard to verify.</a:t>
            </a:r>
            <a:endParaRPr lang="en-US" sz="1800" dirty="0"/>
          </a:p>
        </p:txBody>
      </p:sp>
      <p:sp>
        <p:nvSpPr>
          <p:cNvPr id="6" name="check circle 2"/>
          <p:cNvSpPr/>
          <p:nvPr/>
        </p:nvSpPr>
        <p:spPr>
          <a:xfrm>
            <a:off x="548640" y="2313432"/>
            <a:ext cx="502920" cy="502920"/>
          </a:xfrm>
          <a:prstGeom prst="ellipse">
            <a:avLst/>
          </a:prstGeom>
          <a:solidFill>
            <a:schemeClr val="accent2"/>
          </a:solidFill>
          <a:ln w="12700">
            <a:solidFill>
              <a:schemeClr val="accent2"/>
            </a:solidFill>
            <a:prstDash val="solid"/>
          </a:ln>
        </p:spPr>
      </p:sp>
      <p:pic>
        <p:nvPicPr>
          <p:cNvPr id="7" name="check 2" descr="Check mark">    </p:cNvPr>
          <p:cNvPicPr>
            <a:picLocks noChangeAspect="1"/>
          </p:cNvPicPr>
          <p:nvPr/>
        </p:nvPicPr>
        <p:blipFill>
          <a:blip r:embed="rId2"/>
          <a:stretch>
            <a:fillRect/>
          </a:stretch>
        </p:blipFill>
        <p:spPr>
          <a:xfrm>
            <a:off x="676656" y="2441448"/>
            <a:ext cx="246888" cy="246888"/>
          </a:xfrm>
          <a:prstGeom prst="rect">
            <a:avLst/>
          </a:prstGeom>
        </p:spPr>
      </p:pic>
      <p:sp>
        <p:nvSpPr>
          <p:cNvPr id="8" name="conclusion 2"/>
          <p:cNvSpPr txBox="1"/>
          <p:nvPr/>
        </p:nvSpPr>
        <p:spPr>
          <a:xfrm>
            <a:off x="1280160" y="2240280"/>
            <a:ext cx="7315200" cy="658368"/>
          </a:xfrm>
          <a:prstGeom prst="rect">
            <a:avLst/>
          </a:prstGeom>
          <a:noFill/>
          <a:ln/>
        </p:spPr>
        <p:txBody>
          <a:bodyPr wrap="square" lIns="0" tIns="0" rIns="0" bIns="0" rtlCol="0" anchor="ctr"/>
          <a:lstStyle/>
          <a:p>
            <a:pPr indent="0" marL="0">
              <a:buNone/>
            </a:pPr>
            <a:r>
              <a:rPr lang="en-US" sz="1800" dirty="0">
                <a:solidFill>
                  <a:schemeClr val="bg1"/>
                </a:solidFill>
              </a:rPr>
              <a:t>StaySync gives first-years one transparent place to find NSFAS-accredited and independent housing.</a:t>
            </a:r>
            <a:endParaRPr lang="en-US" sz="1800" dirty="0"/>
          </a:p>
        </p:txBody>
      </p:sp>
      <p:sp>
        <p:nvSpPr>
          <p:cNvPr id="9" name="check circle 3"/>
          <p:cNvSpPr/>
          <p:nvPr/>
        </p:nvSpPr>
        <p:spPr>
          <a:xfrm>
            <a:off x="548640" y="3182112"/>
            <a:ext cx="502920" cy="502920"/>
          </a:xfrm>
          <a:prstGeom prst="ellipse">
            <a:avLst/>
          </a:prstGeom>
          <a:solidFill>
            <a:schemeClr val="accent2"/>
          </a:solidFill>
          <a:ln w="12700">
            <a:solidFill>
              <a:schemeClr val="accent2"/>
            </a:solidFill>
            <a:prstDash val="solid"/>
          </a:ln>
        </p:spPr>
      </p:sp>
      <p:pic>
        <p:nvPicPr>
          <p:cNvPr id="10" name="check 3" descr="Check mark">    </p:cNvPr>
          <p:cNvPicPr>
            <a:picLocks noChangeAspect="1"/>
          </p:cNvPicPr>
          <p:nvPr/>
        </p:nvPicPr>
        <p:blipFill>
          <a:blip r:embed="rId3"/>
          <a:stretch>
            <a:fillRect/>
          </a:stretch>
        </p:blipFill>
        <p:spPr>
          <a:xfrm>
            <a:off x="676656" y="3310128"/>
            <a:ext cx="246888" cy="246888"/>
          </a:xfrm>
          <a:prstGeom prst="rect">
            <a:avLst/>
          </a:prstGeom>
        </p:spPr>
      </p:pic>
      <p:sp>
        <p:nvSpPr>
          <p:cNvPr id="11" name="conclusion 3"/>
          <p:cNvSpPr txBox="1"/>
          <p:nvPr/>
        </p:nvSpPr>
        <p:spPr>
          <a:xfrm>
            <a:off x="1280160" y="3108960"/>
            <a:ext cx="7315200" cy="658368"/>
          </a:xfrm>
          <a:prstGeom prst="rect">
            <a:avLst/>
          </a:prstGeom>
          <a:noFill/>
          <a:ln/>
        </p:spPr>
        <p:txBody>
          <a:bodyPr wrap="square" lIns="0" tIns="0" rIns="0" bIns="0" rtlCol="0" anchor="ctr"/>
          <a:lstStyle/>
          <a:p>
            <a:pPr indent="0" marL="0">
              <a:buNone/>
            </a:pPr>
            <a:r>
              <a:rPr lang="en-US" sz="1800" dirty="0">
                <a:solidFill>
                  <a:schemeClr val="bg1"/>
                </a:solidFill>
              </a:rPr>
              <a:t>With payments, maps and verification, it can scale across South Africa.</a:t>
            </a:r>
            <a:endParaRPr lang="en-US" sz="1800" dirty="0"/>
          </a:p>
        </p:txBody>
      </p:sp>
      <p:sp>
        <p:nvSpPr>
          <p:cNvPr id="12" name="closing line"/>
          <p:cNvSpPr txBox="1"/>
          <p:nvPr/>
        </p:nvSpPr>
        <p:spPr>
          <a:xfrm>
            <a:off x="548640" y="4114800"/>
            <a:ext cx="8046720" cy="548640"/>
          </a:xfrm>
          <a:prstGeom prst="rect">
            <a:avLst/>
          </a:prstGeom>
          <a:noFill/>
          <a:ln/>
        </p:spPr>
        <p:txBody>
          <a:bodyPr wrap="square" lIns="0" tIns="0" rIns="0" bIns="0" rtlCol="0" anchor="ctr"/>
          <a:lstStyle/>
          <a:p>
            <a:pPr indent="0" marL="0">
              <a:buNone/>
            </a:pPr>
            <a:r>
              <a:rPr lang="en-US" sz="2800" b="1" dirty="0">
                <a:solidFill>
                  <a:schemeClr val="accent2"/>
                </a:solidFill>
                <a:latin typeface="Cambria" pitchFamily="34" charset="0"/>
                <a:ea typeface="Cambria" pitchFamily="34" charset="-122"/>
                <a:cs typeface="Cambria" pitchFamily="34" charset="-120"/>
              </a:rPr>
              <a:t>Thank you. Any questions?</a:t>
            </a:r>
            <a:endParaRPr lang="en-US" sz="2800" dirty="0"/>
          </a:p>
        </p:txBody>
      </p:sp>
    </p:spTree>
  </p:cSld>
  <p:clrMapOvr>
    <a:masterClrMapping/>
  </p:clrMapOvr>
</p:sld>
</file>

<file path=ppt/theme/theme1.xml><?xml version="1.0" encoding="utf-8"?>
<a:theme xmlns:a="http://schemas.openxmlformats.org/drawingml/2006/main" name="StaySync">
  <a:themeElements>
    <a:clrScheme name="StaySync">
      <a:dk1>
        <a:srgbClr val="12232E"/>
      </a:dk1>
      <a:lt1>
        <a:srgbClr val="FFFFFF"/>
      </a:lt1>
      <a:dk2>
        <a:srgbClr val="0F4C5C"/>
      </a:dk2>
      <a:lt2>
        <a:srgbClr val="EAF3F3"/>
      </a:lt2>
      <a:accent1>
        <a:srgbClr val="1B998B"/>
      </a:accent1>
      <a:accent2>
        <a:srgbClr val="F4A340"/>
      </a:accent2>
      <a:accent3>
        <a:srgbClr val="E4572E"/>
      </a:accent3>
      <a:accent4>
        <a:srgbClr val="2E86AB"/>
      </a:accent4>
      <a:accent5>
        <a:srgbClr val="5F7480"/>
      </a:accent5>
      <a:accent6>
        <a:srgbClr val="7BC8A4"/>
      </a:accent6>
      <a:hlink>
        <a:srgbClr val="1B998B"/>
      </a:hlink>
      <a:folHlink>
        <a:srgbClr val="5F7480"/>
      </a:folHlink>
    </a:clrScheme>
    <a:fontScheme name="StaySync">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StaySync: Introduction, Problems and Solution</dc:title>
  <dc:subject>PptxGenJS Presentation</dc:subject>
  <dc:creator>Tiisetso Marabe</dc:creator>
  <cp:lastModifiedBy>Tiisetso Marabe</cp:lastModifiedBy>
  <cp:revision>1</cp:revision>
  <dcterms:created xsi:type="dcterms:W3CDTF">2026-10-20T07:35:32Z</dcterms:created>
  <dcterms:modified xsi:type="dcterms:W3CDTF">2026-10-20T07:35:32Z</dcterms:modified>
</cp:coreProperties>
</file>